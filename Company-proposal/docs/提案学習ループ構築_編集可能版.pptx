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336792" cy="6858000"/>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336792" y="0"/>
            <a:ext cx="5854903"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28800"/>
            <a:ext cx="5029200" cy="365760"/>
          </a:xfrm>
          <a:prstGeom prst="rect">
            <a:avLst/>
          </a:prstGeom>
          <a:noFill/>
        </p:spPr>
        <p:txBody>
          <a:bodyPr wrap="square" lIns="45720" rIns="45720" tIns="18288" bIns="18288" anchor="t">
            <a:spAutoFit/>
          </a:bodyPr>
          <a:lstStyle/>
          <a:p>
            <a:pPr algn="l"/>
            <a:r>
              <a:rPr sz="1000" b="0">
                <a:solidFill>
                  <a:srgbClr val="CCEEEC"/>
                </a:solidFill>
                <a:latin typeface="Yu Gothic UI"/>
              </a:rPr>
              <a:t>INTERNAL OPERATIONS PROPOSAL</a:t>
            </a:r>
          </a:p>
        </p:txBody>
      </p:sp>
      <p:sp>
        <p:nvSpPr>
          <p:cNvPr id="5" name="TextBox 4"/>
          <p:cNvSpPr txBox="1"/>
          <p:nvPr/>
        </p:nvSpPr>
        <p:spPr>
          <a:xfrm>
            <a:off x="777240" y="2377440"/>
            <a:ext cx="5029200" cy="1371600"/>
          </a:xfrm>
          <a:prstGeom prst="rect">
            <a:avLst/>
          </a:prstGeom>
          <a:noFill/>
        </p:spPr>
        <p:txBody>
          <a:bodyPr wrap="square" lIns="45720" rIns="45720" tIns="18288" bIns="18288" anchor="t">
            <a:spAutoFit/>
          </a:bodyPr>
          <a:lstStyle/>
          <a:p>
            <a:pPr algn="l"/>
            <a:r>
              <a:rPr sz="3200" b="1">
                <a:solidFill>
                  <a:srgbClr val="FFFFFF"/>
                </a:solidFill>
                <a:latin typeface="Yu Gothic UI"/>
              </a:rPr>
              <a:t>提案学習ループ</a:t>
            </a:r>
          </a:p>
          <a:p>
            <a:pPr algn="l"/>
            <a:r>
              <a:rPr sz="3200" b="1">
                <a:solidFill>
                  <a:srgbClr val="FFFFFF"/>
                </a:solidFill>
                <a:latin typeface="Yu Gothic UI"/>
              </a:rPr>
              <a:t>構築のご提案</a:t>
            </a:r>
          </a:p>
        </p:txBody>
      </p:sp>
      <p:sp>
        <p:nvSpPr>
          <p:cNvPr id="6" name="TextBox 5"/>
          <p:cNvSpPr txBox="1"/>
          <p:nvPr/>
        </p:nvSpPr>
        <p:spPr>
          <a:xfrm>
            <a:off x="777240" y="4114800"/>
            <a:ext cx="5029200" cy="822960"/>
          </a:xfrm>
          <a:prstGeom prst="rect">
            <a:avLst/>
          </a:prstGeom>
          <a:noFill/>
        </p:spPr>
        <p:txBody>
          <a:bodyPr wrap="square" lIns="45720" rIns="45720" tIns="18288" bIns="18288" anchor="t">
            <a:spAutoFit/>
          </a:bodyPr>
          <a:lstStyle/>
          <a:p>
            <a:pPr algn="l"/>
            <a:r>
              <a:rPr sz="1300" b="0">
                <a:solidFill>
                  <a:srgbClr val="FFFFFF"/>
                </a:solidFill>
                <a:latin typeface="Yu Gothic UI"/>
              </a:rPr>
              <a:t>Git × Google Drive × MCPで</a:t>
            </a:r>
          </a:p>
          <a:p>
            <a:pPr algn="l"/>
            <a:r>
              <a:rPr sz="1300" b="0">
                <a:solidFill>
                  <a:srgbClr val="FFFFFF"/>
                </a:solidFill>
                <a:latin typeface="Yu Gothic UI"/>
              </a:rPr>
              <a:t>「提案が提案を育てる」仕組みへ</a:t>
            </a:r>
          </a:p>
        </p:txBody>
      </p:sp>
      <p:sp>
        <p:nvSpPr>
          <p:cNvPr id="7" name="Rectangle 6"/>
          <p:cNvSpPr/>
          <p:nvPr/>
        </p:nvSpPr>
        <p:spPr>
          <a:xfrm>
            <a:off x="777240" y="5029200"/>
            <a:ext cx="365760" cy="27432"/>
          </a:xfrm>
          <a:prstGeom prst="rect">
            <a:avLst/>
          </a:prstGeom>
          <a:solidFill>
            <a:srgbClr val="CC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166360"/>
            <a:ext cx="4572000" cy="274320"/>
          </a:xfrm>
          <a:prstGeom prst="rect">
            <a:avLst/>
          </a:prstGeom>
          <a:noFill/>
        </p:spPr>
        <p:txBody>
          <a:bodyPr wrap="square" lIns="45720" rIns="45720" tIns="18288" bIns="18288" anchor="t">
            <a:spAutoFit/>
          </a:bodyPr>
          <a:lstStyle/>
          <a:p>
            <a:pPr algn="l"/>
            <a:r>
              <a:rPr sz="900" b="0">
                <a:solidFill>
                  <a:srgbClr val="CCEEEC"/>
                </a:solidFill>
                <a:latin typeface="Yu Gothic UI"/>
              </a:rPr>
              <a:t>Prepared by KANDO Marketing</a:t>
            </a:r>
          </a:p>
        </p:txBody>
      </p:sp>
      <p:sp>
        <p:nvSpPr>
          <p:cNvPr id="9" name="TextBox 8"/>
          <p:cNvSpPr txBox="1"/>
          <p:nvPr/>
        </p:nvSpPr>
        <p:spPr>
          <a:xfrm>
            <a:off x="6858000" y="2011680"/>
            <a:ext cx="3657600" cy="274320"/>
          </a:xfrm>
          <a:prstGeom prst="rect">
            <a:avLst/>
          </a:prstGeom>
          <a:noFill/>
        </p:spPr>
        <p:txBody>
          <a:bodyPr wrap="square" lIns="45720" rIns="45720" tIns="18288" bIns="18288" anchor="t">
            <a:spAutoFit/>
          </a:bodyPr>
          <a:lstStyle/>
          <a:p>
            <a:pPr algn="l"/>
            <a:r>
              <a:rPr sz="1000" b="1">
                <a:solidFill>
                  <a:srgbClr val="CCCCCC"/>
                </a:solidFill>
                <a:latin typeface="Yu Gothic UI"/>
              </a:rPr>
              <a:t>対象</a:t>
            </a:r>
          </a:p>
        </p:txBody>
      </p:sp>
      <p:sp>
        <p:nvSpPr>
          <p:cNvPr id="10" name="TextBox 9"/>
          <p:cNvSpPr txBox="1"/>
          <p:nvPr/>
        </p:nvSpPr>
        <p:spPr>
          <a:xfrm>
            <a:off x="6858000" y="2286000"/>
            <a:ext cx="3657600" cy="274320"/>
          </a:xfrm>
          <a:prstGeom prst="rect">
            <a:avLst/>
          </a:prstGeom>
          <a:noFill/>
        </p:spPr>
        <p:txBody>
          <a:bodyPr wrap="square" lIns="45720" rIns="45720" tIns="18288" bIns="18288" anchor="t">
            <a:spAutoFit/>
          </a:bodyPr>
          <a:lstStyle/>
          <a:p>
            <a:pPr algn="l"/>
            <a:r>
              <a:rPr sz="1100" b="0">
                <a:solidFill>
                  <a:srgbClr val="999999"/>
                </a:solidFill>
                <a:latin typeface="Yu Gothic UI"/>
              </a:rPr>
              <a:t>KANDO Marketing 内部運用</a:t>
            </a:r>
          </a:p>
        </p:txBody>
      </p:sp>
      <p:sp>
        <p:nvSpPr>
          <p:cNvPr id="11" name="TextBox 10"/>
          <p:cNvSpPr txBox="1"/>
          <p:nvPr/>
        </p:nvSpPr>
        <p:spPr>
          <a:xfrm>
            <a:off x="6858000" y="3017520"/>
            <a:ext cx="3657600" cy="274320"/>
          </a:xfrm>
          <a:prstGeom prst="rect">
            <a:avLst/>
          </a:prstGeom>
          <a:noFill/>
        </p:spPr>
        <p:txBody>
          <a:bodyPr wrap="square" lIns="45720" rIns="45720" tIns="18288" bIns="18288" anchor="t">
            <a:spAutoFit/>
          </a:bodyPr>
          <a:lstStyle/>
          <a:p>
            <a:pPr algn="l"/>
            <a:r>
              <a:rPr sz="1000" b="1">
                <a:solidFill>
                  <a:srgbClr val="CCCCCC"/>
                </a:solidFill>
                <a:latin typeface="Yu Gothic UI"/>
              </a:rPr>
              <a:t>提出日</a:t>
            </a:r>
          </a:p>
        </p:txBody>
      </p:sp>
      <p:sp>
        <p:nvSpPr>
          <p:cNvPr id="12" name="TextBox 11"/>
          <p:cNvSpPr txBox="1"/>
          <p:nvPr/>
        </p:nvSpPr>
        <p:spPr>
          <a:xfrm>
            <a:off x="6858000" y="3291840"/>
            <a:ext cx="3657600" cy="274320"/>
          </a:xfrm>
          <a:prstGeom prst="rect">
            <a:avLst/>
          </a:prstGeom>
          <a:noFill/>
        </p:spPr>
        <p:txBody>
          <a:bodyPr wrap="square" lIns="45720" rIns="45720" tIns="18288" bIns="18288" anchor="t">
            <a:spAutoFit/>
          </a:bodyPr>
          <a:lstStyle/>
          <a:p>
            <a:pPr algn="l"/>
            <a:r>
              <a:rPr sz="1100" b="0">
                <a:solidFill>
                  <a:srgbClr val="999999"/>
                </a:solidFill>
                <a:latin typeface="Yu Gothic UI"/>
              </a:rPr>
              <a:t>2026年4月30日</a:t>
            </a:r>
          </a:p>
        </p:txBody>
      </p:sp>
      <p:sp>
        <p:nvSpPr>
          <p:cNvPr id="13" name="TextBox 12"/>
          <p:cNvSpPr txBox="1"/>
          <p:nvPr/>
        </p:nvSpPr>
        <p:spPr>
          <a:xfrm>
            <a:off x="6858000" y="4023360"/>
            <a:ext cx="3657600" cy="274320"/>
          </a:xfrm>
          <a:prstGeom prst="rect">
            <a:avLst/>
          </a:prstGeom>
          <a:noFill/>
        </p:spPr>
        <p:txBody>
          <a:bodyPr wrap="square" lIns="45720" rIns="45720" tIns="18288" bIns="18288" anchor="t">
            <a:spAutoFit/>
          </a:bodyPr>
          <a:lstStyle/>
          <a:p>
            <a:pPr algn="l"/>
            <a:r>
              <a:rPr sz="1000" b="1">
                <a:solidFill>
                  <a:srgbClr val="CCCCCC"/>
                </a:solidFill>
                <a:latin typeface="Yu Gothic UI"/>
              </a:rPr>
              <a:t>担当</a:t>
            </a:r>
          </a:p>
        </p:txBody>
      </p:sp>
      <p:sp>
        <p:nvSpPr>
          <p:cNvPr id="14" name="TextBox 13"/>
          <p:cNvSpPr txBox="1"/>
          <p:nvPr/>
        </p:nvSpPr>
        <p:spPr>
          <a:xfrm>
            <a:off x="6858000" y="4297680"/>
            <a:ext cx="3657600" cy="274320"/>
          </a:xfrm>
          <a:prstGeom prst="rect">
            <a:avLst/>
          </a:prstGeom>
          <a:noFill/>
        </p:spPr>
        <p:txBody>
          <a:bodyPr wrap="square" lIns="45720" rIns="45720" tIns="18288" bIns="18288" anchor="t">
            <a:spAutoFit/>
          </a:bodyPr>
          <a:lstStyle/>
          <a:p>
            <a:pPr algn="l"/>
            <a:r>
              <a:rPr sz="1100" b="0">
                <a:solidFill>
                  <a:srgbClr val="999999"/>
                </a:solidFill>
                <a:latin typeface="Yu Gothic UI"/>
              </a:rPr>
              <a:t>あきら</a:t>
            </a:r>
          </a:p>
        </p:txBody>
      </p:sp>
      <p:sp>
        <p:nvSpPr>
          <p:cNvPr id="15" name="Rectangle 14"/>
          <p:cNvSpPr/>
          <p:nvPr/>
        </p:nvSpPr>
        <p:spPr>
          <a:xfrm>
            <a:off x="0" y="6473952"/>
            <a:ext cx="12191695" cy="384048"/>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73952"/>
            <a:ext cx="7315200" cy="384048"/>
          </a:xfrm>
          <a:prstGeom prst="rect">
            <a:avLst/>
          </a:prstGeom>
          <a:noFill/>
        </p:spPr>
        <p:txBody>
          <a:bodyPr wrap="square" lIns="45720" rIns="45720" tIns="18288" bIns="18288" anchor="ctr">
            <a:spAutoFit/>
          </a:bodyPr>
          <a:lstStyle/>
          <a:p>
            <a:pPr algn="l"/>
            <a:r>
              <a:rPr sz="900" b="0">
                <a:solidFill>
                  <a:srgbClr val="FFFFFF"/>
                </a:solidFill>
                <a:latin typeface="Yu Gothic UI"/>
              </a:rPr>
              <a:t>2026. KANDO Marketing. Professional Consulting Service</a:t>
            </a:r>
          </a:p>
        </p:txBody>
      </p:sp>
      <p:sp>
        <p:nvSpPr>
          <p:cNvPr id="17" name="TextBox 16"/>
          <p:cNvSpPr txBox="1"/>
          <p:nvPr/>
        </p:nvSpPr>
        <p:spPr>
          <a:xfrm>
            <a:off x="10362895" y="6473952"/>
            <a:ext cx="1371600" cy="384048"/>
          </a:xfrm>
          <a:prstGeom prst="rect">
            <a:avLst/>
          </a:prstGeom>
          <a:noFill/>
        </p:spPr>
        <p:txBody>
          <a:bodyPr wrap="square" lIns="45720" rIns="45720" tIns="18288" bIns="18288" anchor="ctr">
            <a:spAutoFit/>
          </a:bodyPr>
          <a:lstStyle/>
          <a:p>
            <a:pPr algn="r"/>
            <a:r>
              <a:rPr sz="900" b="0">
                <a:solidFill>
                  <a:srgbClr val="FFFFFF"/>
                </a:solidFill>
                <a:latin typeface="Yu Gothic UI"/>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972800" cy="548640"/>
          </a:xfrm>
          <a:prstGeom prst="rect">
            <a:avLst/>
          </a:prstGeom>
          <a:noFill/>
        </p:spPr>
        <p:txBody>
          <a:bodyPr wrap="square" lIns="45720" rIns="45720" tIns="18288" bIns="18288" anchor="t">
            <a:spAutoFit/>
          </a:bodyPr>
          <a:lstStyle/>
          <a:p>
            <a:pPr algn="l"/>
            <a:r>
              <a:rPr sz="2400" b="1">
                <a:solidFill>
                  <a:srgbClr val="0EBAB5"/>
                </a:solidFill>
                <a:latin typeface="Yu Gothic UI"/>
              </a:rPr>
              <a:t>3ステップで回す全体像</a:t>
            </a:r>
          </a:p>
        </p:txBody>
      </p:sp>
      <p:sp>
        <p:nvSpPr>
          <p:cNvPr id="3" name="TextBox 2"/>
          <p:cNvSpPr txBox="1"/>
          <p:nvPr/>
        </p:nvSpPr>
        <p:spPr>
          <a:xfrm>
            <a:off x="731520" y="914400"/>
            <a:ext cx="10698480" cy="868680"/>
          </a:xfrm>
          <a:prstGeom prst="rect">
            <a:avLst/>
          </a:prstGeom>
          <a:noFill/>
        </p:spPr>
        <p:txBody>
          <a:bodyPr wrap="square" lIns="45720" rIns="45720" tIns="18288" bIns="18288" anchor="t">
            <a:spAutoFit/>
          </a:bodyPr>
          <a:lstStyle/>
          <a:p>
            <a:pPr algn="l"/>
            <a:r>
              <a:rPr sz="1100" b="0">
                <a:solidFill>
                  <a:srgbClr val="555555"/>
                </a:solidFill>
                <a:latin typeface="Yu Gothic UI"/>
              </a:rPr>
              <a:t>提案学習ループは「①記録 → ②抽出 → ③適用」のシンプルな3ステップで構成する。各案件のメタ情報と結果データをまず記録し、3件以上溜まった時点で勝ち筋をパターンとして抽出、新規提案で過去類似案件を自動引当して適用する。複雑な仕組みを作るよりも、まずこの最小ループを回し続けることが資産化の最短ルートとなる。</a:t>
            </a:r>
          </a:p>
        </p:txBody>
      </p:sp>
      <p:sp>
        <p:nvSpPr>
          <p:cNvPr id="4" name="Rectangle 3"/>
          <p:cNvSpPr/>
          <p:nvPr/>
        </p:nvSpPr>
        <p:spPr>
          <a:xfrm>
            <a:off x="731520" y="2011680"/>
            <a:ext cx="10698480" cy="4206240"/>
          </a:xfrm>
          <a:prstGeom prst="rect">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2286000"/>
            <a:ext cx="7315200" cy="3200400"/>
          </a:xfrm>
          <a:prstGeom prst="roundRect">
            <a:avLst>
              <a:gd name="adj" fmla="val 8000"/>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0" y="2697480"/>
            <a:ext cx="2103120" cy="2377440"/>
          </a:xfrm>
          <a:prstGeom prst="rect">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2697480"/>
            <a:ext cx="2103120" cy="50292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697480"/>
            <a:ext cx="2103120" cy="502920"/>
          </a:xfrm>
          <a:prstGeom prst="rect">
            <a:avLst/>
          </a:prstGeom>
          <a:noFill/>
        </p:spPr>
        <p:txBody>
          <a:bodyPr wrap="square" lIns="45720" rIns="45720" tIns="18288" bIns="18288" anchor="ctr">
            <a:spAutoFit/>
          </a:bodyPr>
          <a:lstStyle/>
          <a:p>
            <a:pPr algn="ctr"/>
            <a:r>
              <a:rPr sz="1400" b="1">
                <a:solidFill>
                  <a:srgbClr val="FFFFFF"/>
                </a:solidFill>
                <a:latin typeface="Yu Gothic UI"/>
              </a:rPr>
              <a:t>① 記録</a:t>
            </a:r>
          </a:p>
        </p:txBody>
      </p:sp>
      <p:sp>
        <p:nvSpPr>
          <p:cNvPr id="9" name="TextBox 8"/>
          <p:cNvSpPr txBox="1"/>
          <p:nvPr/>
        </p:nvSpPr>
        <p:spPr>
          <a:xfrm>
            <a:off x="1371600" y="3474720"/>
            <a:ext cx="2103120" cy="640080"/>
          </a:xfrm>
          <a:prstGeom prst="rect">
            <a:avLst/>
          </a:prstGeom>
          <a:noFill/>
        </p:spPr>
        <p:txBody>
          <a:bodyPr wrap="square" lIns="45720" rIns="45720" tIns="18288" bIns="18288" anchor="ctr">
            <a:spAutoFit/>
          </a:bodyPr>
          <a:lstStyle/>
          <a:p>
            <a:pPr algn="ctr"/>
            <a:r>
              <a:rPr sz="1300" b="1">
                <a:solidFill>
                  <a:srgbClr val="1A1A1A"/>
                </a:solidFill>
                <a:latin typeface="Yu Gothic UI"/>
              </a:rPr>
              <a:t>案件ごとに</a:t>
            </a:r>
          </a:p>
          <a:p>
            <a:pPr algn="ctr"/>
            <a:r>
              <a:rPr sz="1300" b="1">
                <a:solidFill>
                  <a:srgbClr val="1A1A1A"/>
                </a:solidFill>
                <a:latin typeface="Yu Gothic UI"/>
              </a:rPr>
              <a:t>情報を残す</a:t>
            </a:r>
          </a:p>
        </p:txBody>
      </p:sp>
      <p:sp>
        <p:nvSpPr>
          <p:cNvPr id="10" name="TextBox 9"/>
          <p:cNvSpPr txBox="1"/>
          <p:nvPr/>
        </p:nvSpPr>
        <p:spPr>
          <a:xfrm>
            <a:off x="1371600" y="4251960"/>
            <a:ext cx="2103120" cy="640080"/>
          </a:xfrm>
          <a:prstGeom prst="rect">
            <a:avLst/>
          </a:prstGeom>
          <a:noFill/>
        </p:spPr>
        <p:txBody>
          <a:bodyPr wrap="square" lIns="45720" rIns="45720" tIns="18288" bIns="18288" anchor="ctr">
            <a:spAutoFit/>
          </a:bodyPr>
          <a:lstStyle/>
          <a:p>
            <a:pPr algn="ctr"/>
            <a:r>
              <a:rPr sz="1100" b="0">
                <a:solidFill>
                  <a:srgbClr val="555555"/>
                </a:solidFill>
                <a:latin typeface="Yu Gothic UI"/>
              </a:rPr>
              <a:t>meta.yml</a:t>
            </a:r>
          </a:p>
          <a:p>
            <a:pPr algn="ctr"/>
            <a:r>
              <a:rPr sz="1100" b="0">
                <a:solidFill>
                  <a:srgbClr val="555555"/>
                </a:solidFill>
                <a:latin typeface="Yu Gothic UI"/>
              </a:rPr>
              <a:t>result.md</a:t>
            </a:r>
          </a:p>
        </p:txBody>
      </p:sp>
      <p:cxnSp>
        <p:nvCxnSpPr>
          <p:cNvPr id="11" name="Connector 10"/>
          <p:cNvCxnSpPr/>
          <p:nvPr/>
        </p:nvCxnSpPr>
        <p:spPr>
          <a:xfrm>
            <a:off x="3566160" y="3886200.0"/>
            <a:ext cx="457200" cy="0.0"/>
          </a:xfrm>
          <a:prstGeom prst="line">
            <a:avLst/>
          </a:prstGeom>
          <a:ln w="19050">
            <a:solidFill>
              <a:srgbClr val="888888"/>
            </a:solidFill>
          </a:ln>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5400000">
            <a:off x="3959352" y="3831336"/>
            <a:ext cx="128016" cy="109728"/>
          </a:xfrm>
          <a:prstGeom prst="triangle">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0" y="2697480"/>
            <a:ext cx="2103120" cy="2377440"/>
          </a:xfrm>
          <a:prstGeom prst="rect">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0" y="2697480"/>
            <a:ext cx="2103120" cy="50292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0" y="2697480"/>
            <a:ext cx="2103120" cy="502920"/>
          </a:xfrm>
          <a:prstGeom prst="rect">
            <a:avLst/>
          </a:prstGeom>
          <a:noFill/>
        </p:spPr>
        <p:txBody>
          <a:bodyPr wrap="square" lIns="45720" rIns="45720" tIns="18288" bIns="18288" anchor="ctr">
            <a:spAutoFit/>
          </a:bodyPr>
          <a:lstStyle/>
          <a:p>
            <a:pPr algn="ctr"/>
            <a:r>
              <a:rPr sz="1400" b="1">
                <a:solidFill>
                  <a:srgbClr val="FFFFFF"/>
                </a:solidFill>
                <a:latin typeface="Yu Gothic UI"/>
              </a:rPr>
              <a:t>② 抽出</a:t>
            </a:r>
          </a:p>
        </p:txBody>
      </p:sp>
      <p:sp>
        <p:nvSpPr>
          <p:cNvPr id="16" name="TextBox 15"/>
          <p:cNvSpPr txBox="1"/>
          <p:nvPr/>
        </p:nvSpPr>
        <p:spPr>
          <a:xfrm>
            <a:off x="4114800" y="3474720"/>
            <a:ext cx="2103120" cy="640080"/>
          </a:xfrm>
          <a:prstGeom prst="rect">
            <a:avLst/>
          </a:prstGeom>
          <a:noFill/>
        </p:spPr>
        <p:txBody>
          <a:bodyPr wrap="square" lIns="45720" rIns="45720" tIns="18288" bIns="18288" anchor="ctr">
            <a:spAutoFit/>
          </a:bodyPr>
          <a:lstStyle/>
          <a:p>
            <a:pPr algn="ctr"/>
            <a:r>
              <a:rPr sz="1300" b="1">
                <a:solidFill>
                  <a:srgbClr val="1A1A1A"/>
                </a:solidFill>
                <a:latin typeface="Yu Gothic UI"/>
              </a:rPr>
              <a:t>3件溜まれば</a:t>
            </a:r>
          </a:p>
          <a:p>
            <a:pPr algn="ctr"/>
            <a:r>
              <a:rPr sz="1300" b="1">
                <a:solidFill>
                  <a:srgbClr val="1A1A1A"/>
                </a:solidFill>
                <a:latin typeface="Yu Gothic UI"/>
              </a:rPr>
              <a:t>パターン化</a:t>
            </a:r>
          </a:p>
        </p:txBody>
      </p:sp>
      <p:sp>
        <p:nvSpPr>
          <p:cNvPr id="17" name="TextBox 16"/>
          <p:cNvSpPr txBox="1"/>
          <p:nvPr/>
        </p:nvSpPr>
        <p:spPr>
          <a:xfrm>
            <a:off x="4114800" y="4251960"/>
            <a:ext cx="2103120" cy="640080"/>
          </a:xfrm>
          <a:prstGeom prst="rect">
            <a:avLst/>
          </a:prstGeom>
          <a:noFill/>
        </p:spPr>
        <p:txBody>
          <a:bodyPr wrap="square" lIns="45720" rIns="45720" tIns="18288" bIns="18288" anchor="ctr">
            <a:spAutoFit/>
          </a:bodyPr>
          <a:lstStyle/>
          <a:p>
            <a:pPr algn="ctr"/>
            <a:r>
              <a:rPr sz="1100" b="0">
                <a:solidFill>
                  <a:srgbClr val="555555"/>
                </a:solidFill>
                <a:latin typeface="Yu Gothic UI"/>
              </a:rPr>
              <a:t>勝ち筋の言語化</a:t>
            </a:r>
          </a:p>
          <a:p>
            <a:pPr algn="ctr"/>
            <a:r>
              <a:rPr sz="1100" b="0">
                <a:solidFill>
                  <a:srgbClr val="555555"/>
                </a:solidFill>
                <a:latin typeface="Yu Gothic UI"/>
              </a:rPr>
              <a:t>負け筋の整理</a:t>
            </a:r>
          </a:p>
        </p:txBody>
      </p:sp>
      <p:cxnSp>
        <p:nvCxnSpPr>
          <p:cNvPr id="18" name="Connector 17"/>
          <p:cNvCxnSpPr/>
          <p:nvPr/>
        </p:nvCxnSpPr>
        <p:spPr>
          <a:xfrm>
            <a:off x="6309360" y="3886200.0"/>
            <a:ext cx="457200" cy="0.0"/>
          </a:xfrm>
          <a:prstGeom prst="line">
            <a:avLst/>
          </a:prstGeom>
          <a:ln w="19050">
            <a:solidFill>
              <a:srgbClr val="888888"/>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6702552" y="3831336"/>
            <a:ext cx="128016" cy="109728"/>
          </a:xfrm>
          <a:prstGeom prst="triangle">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95360" y="2286000"/>
            <a:ext cx="2377440" cy="2743200"/>
          </a:xfrm>
          <a:prstGeom prst="rect">
            <a:avLst/>
          </a:prstGeom>
          <a:solidFill>
            <a:srgbClr val="FFFFFF"/>
          </a:solidFill>
          <a:ln w="25400">
            <a:solidFill>
              <a:srgbClr val="0E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95360" y="2286000"/>
            <a:ext cx="2377440" cy="548640"/>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0" y="2286000"/>
            <a:ext cx="2377440" cy="548640"/>
          </a:xfrm>
          <a:prstGeom prst="rect">
            <a:avLst/>
          </a:prstGeom>
          <a:noFill/>
        </p:spPr>
        <p:txBody>
          <a:bodyPr wrap="square" lIns="45720" rIns="45720" tIns="18288" bIns="18288" anchor="ctr">
            <a:spAutoFit/>
          </a:bodyPr>
          <a:lstStyle/>
          <a:p>
            <a:pPr algn="ctr"/>
            <a:r>
              <a:rPr sz="1500" b="1">
                <a:solidFill>
                  <a:srgbClr val="FFFFFF"/>
                </a:solidFill>
                <a:latin typeface="Yu Gothic UI"/>
              </a:rPr>
              <a:t>③ 適用</a:t>
            </a:r>
          </a:p>
        </p:txBody>
      </p:sp>
      <p:sp>
        <p:nvSpPr>
          <p:cNvPr id="23" name="TextBox 22"/>
          <p:cNvSpPr txBox="1"/>
          <p:nvPr/>
        </p:nvSpPr>
        <p:spPr>
          <a:xfrm>
            <a:off x="8595360" y="3154680"/>
            <a:ext cx="2377440" cy="640080"/>
          </a:xfrm>
          <a:prstGeom prst="rect">
            <a:avLst/>
          </a:prstGeom>
          <a:noFill/>
        </p:spPr>
        <p:txBody>
          <a:bodyPr wrap="square" lIns="45720" rIns="45720" tIns="18288" bIns="18288" anchor="ctr">
            <a:spAutoFit/>
          </a:bodyPr>
          <a:lstStyle/>
          <a:p>
            <a:pPr algn="ctr"/>
            <a:r>
              <a:rPr sz="1300" b="1">
                <a:solidFill>
                  <a:srgbClr val="0EBAB5"/>
                </a:solidFill>
                <a:latin typeface="Yu Gothic UI"/>
              </a:rPr>
              <a:t>新規提案で</a:t>
            </a:r>
          </a:p>
          <a:p>
            <a:pPr algn="ctr"/>
            <a:r>
              <a:rPr sz="1300" b="1">
                <a:solidFill>
                  <a:srgbClr val="0EBAB5"/>
                </a:solidFill>
                <a:latin typeface="Yu Gothic UI"/>
              </a:rPr>
              <a:t>過去を引当</a:t>
            </a:r>
          </a:p>
        </p:txBody>
      </p:sp>
      <p:sp>
        <p:nvSpPr>
          <p:cNvPr id="24" name="TextBox 23"/>
          <p:cNvSpPr txBox="1"/>
          <p:nvPr/>
        </p:nvSpPr>
        <p:spPr>
          <a:xfrm>
            <a:off x="8595360" y="3977640"/>
            <a:ext cx="2377440" cy="914400"/>
          </a:xfrm>
          <a:prstGeom prst="rect">
            <a:avLst/>
          </a:prstGeom>
          <a:noFill/>
        </p:spPr>
        <p:txBody>
          <a:bodyPr wrap="square" lIns="45720" rIns="45720" tIns="18288" bIns="18288" anchor="ctr">
            <a:spAutoFit/>
          </a:bodyPr>
          <a:lstStyle/>
          <a:p>
            <a:pPr algn="ctr"/>
            <a:r>
              <a:rPr sz="1100" b="0">
                <a:solidFill>
                  <a:srgbClr val="555555"/>
                </a:solidFill>
                <a:latin typeface="Yu Gothic UI"/>
              </a:rPr>
              <a:t>類似案件の自動検索</a:t>
            </a:r>
          </a:p>
          <a:p>
            <a:pPr algn="ctr"/>
            <a:r>
              <a:rPr sz="1100" b="0">
                <a:solidFill>
                  <a:srgbClr val="555555"/>
                </a:solidFill>
                <a:latin typeface="Yu Gothic UI"/>
              </a:rPr>
              <a:t>テンプレ流用</a:t>
            </a:r>
          </a:p>
          <a:p>
            <a:pPr algn="ctr"/>
            <a:r>
              <a:rPr sz="1100" b="0">
                <a:solidFill>
                  <a:srgbClr val="555555"/>
                </a:solidFill>
                <a:latin typeface="Yu Gothic UI"/>
              </a:rPr>
              <a:t>骨子作成1/3短縮</a:t>
            </a:r>
          </a:p>
        </p:txBody>
      </p:sp>
      <p:sp>
        <p:nvSpPr>
          <p:cNvPr id="25" name="Rounded Rectangle 24"/>
          <p:cNvSpPr/>
          <p:nvPr/>
        </p:nvSpPr>
        <p:spPr>
          <a:xfrm>
            <a:off x="2560320" y="5669280"/>
            <a:ext cx="7040880" cy="411480"/>
          </a:xfrm>
          <a:prstGeom prst="roundRect">
            <a:avLst>
              <a:gd name="adj" fmla="val 8000"/>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0320" y="5669280"/>
            <a:ext cx="7040880" cy="411480"/>
          </a:xfrm>
          <a:prstGeom prst="rect">
            <a:avLst/>
          </a:prstGeom>
          <a:noFill/>
        </p:spPr>
        <p:txBody>
          <a:bodyPr wrap="square" lIns="45720" rIns="45720" tIns="18288" bIns="18288" anchor="ctr">
            <a:spAutoFit/>
          </a:bodyPr>
          <a:lstStyle/>
          <a:p>
            <a:pPr algn="ctr"/>
            <a:r>
              <a:rPr sz="1200" b="1">
                <a:solidFill>
                  <a:srgbClr val="0EBAB5"/>
                </a:solidFill>
                <a:latin typeface="Yu Gothic UI"/>
              </a:rPr>
              <a:t>→ 最小ループを回し続けることが資産化の最短ルート</a:t>
            </a:r>
          </a:p>
        </p:txBody>
      </p:sp>
      <p:sp>
        <p:nvSpPr>
          <p:cNvPr id="27" name="Rectangle 26"/>
          <p:cNvSpPr/>
          <p:nvPr/>
        </p:nvSpPr>
        <p:spPr>
          <a:xfrm>
            <a:off x="0" y="6473952"/>
            <a:ext cx="12191695" cy="384048"/>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73952"/>
            <a:ext cx="7315200" cy="384048"/>
          </a:xfrm>
          <a:prstGeom prst="rect">
            <a:avLst/>
          </a:prstGeom>
          <a:noFill/>
        </p:spPr>
        <p:txBody>
          <a:bodyPr wrap="square" lIns="45720" rIns="45720" tIns="18288" bIns="18288" anchor="ctr">
            <a:spAutoFit/>
          </a:bodyPr>
          <a:lstStyle/>
          <a:p>
            <a:pPr algn="l"/>
            <a:r>
              <a:rPr sz="900" b="0">
                <a:solidFill>
                  <a:srgbClr val="FFFFFF"/>
                </a:solidFill>
                <a:latin typeface="Yu Gothic UI"/>
              </a:rPr>
              <a:t>2026. KANDO Marketing. Professional Consulting Service</a:t>
            </a:r>
          </a:p>
        </p:txBody>
      </p:sp>
      <p:sp>
        <p:nvSpPr>
          <p:cNvPr id="29" name="TextBox 28"/>
          <p:cNvSpPr txBox="1"/>
          <p:nvPr/>
        </p:nvSpPr>
        <p:spPr>
          <a:xfrm>
            <a:off x="10362895" y="6473952"/>
            <a:ext cx="1371600" cy="384048"/>
          </a:xfrm>
          <a:prstGeom prst="rect">
            <a:avLst/>
          </a:prstGeom>
          <a:noFill/>
        </p:spPr>
        <p:txBody>
          <a:bodyPr wrap="square" lIns="45720" rIns="45720" tIns="18288" bIns="18288" anchor="ctr">
            <a:spAutoFit/>
          </a:bodyPr>
          <a:lstStyle/>
          <a:p>
            <a:pPr algn="r"/>
            <a:r>
              <a:rPr sz="900" b="0">
                <a:solidFill>
                  <a:srgbClr val="FFFFFF"/>
                </a:solidFill>
                <a:latin typeface="Yu Gothic UI"/>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972800" cy="548640"/>
          </a:xfrm>
          <a:prstGeom prst="rect">
            <a:avLst/>
          </a:prstGeom>
          <a:noFill/>
        </p:spPr>
        <p:txBody>
          <a:bodyPr wrap="square" lIns="45720" rIns="45720" tIns="18288" bIns="18288" anchor="t">
            <a:spAutoFit/>
          </a:bodyPr>
          <a:lstStyle/>
          <a:p>
            <a:pPr algn="l"/>
            <a:r>
              <a:rPr sz="2400" b="1">
                <a:solidFill>
                  <a:srgbClr val="0EBAB5"/>
                </a:solidFill>
                <a:latin typeface="Yu Gothic UI"/>
              </a:rPr>
              <a:t>学習ループを回すメリット</a:t>
            </a:r>
          </a:p>
        </p:txBody>
      </p:sp>
      <p:sp>
        <p:nvSpPr>
          <p:cNvPr id="3" name="TextBox 2"/>
          <p:cNvSpPr txBox="1"/>
          <p:nvPr/>
        </p:nvSpPr>
        <p:spPr>
          <a:xfrm>
            <a:off x="731520" y="914400"/>
            <a:ext cx="10698480" cy="868680"/>
          </a:xfrm>
          <a:prstGeom prst="rect">
            <a:avLst/>
          </a:prstGeom>
          <a:noFill/>
        </p:spPr>
        <p:txBody>
          <a:bodyPr wrap="square" lIns="45720" rIns="45720" tIns="18288" bIns="18288" anchor="t">
            <a:spAutoFit/>
          </a:bodyPr>
          <a:lstStyle/>
          <a:p>
            <a:pPr algn="l"/>
            <a:r>
              <a:rPr sz="1100" b="0">
                <a:solidFill>
                  <a:srgbClr val="555555"/>
                </a:solidFill>
                <a:latin typeface="Yu Gothic UI"/>
              </a:rPr>
              <a:t>学習ループを回す効果は、提案速度の向上・受注品質の安定・教育コストの削減という3点に集約される。類似案件の流用で骨子作成時間が約1/3に短縮され、勝ち筋の型化により初提案でも受注率が上がり、新メンバーやパートナー講師がパターンを学べる教材としても機能する。蓄積された資産は法人研修の事例ストックにも転用可能。</a:t>
            </a:r>
          </a:p>
        </p:txBody>
      </p:sp>
      <p:sp>
        <p:nvSpPr>
          <p:cNvPr id="4" name="Rectangle 3"/>
          <p:cNvSpPr/>
          <p:nvPr/>
        </p:nvSpPr>
        <p:spPr>
          <a:xfrm>
            <a:off x="731520" y="2011680"/>
            <a:ext cx="3383280" cy="42062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3383280" cy="50292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11680"/>
            <a:ext cx="3383280" cy="502920"/>
          </a:xfrm>
          <a:prstGeom prst="rect">
            <a:avLst/>
          </a:prstGeom>
          <a:noFill/>
        </p:spPr>
        <p:txBody>
          <a:bodyPr wrap="square" lIns="45720" rIns="45720" tIns="18288" bIns="18288" anchor="ctr">
            <a:spAutoFit/>
          </a:bodyPr>
          <a:lstStyle/>
          <a:p>
            <a:pPr algn="ctr"/>
            <a:r>
              <a:rPr sz="1300" b="1">
                <a:solidFill>
                  <a:srgbClr val="FFFFFF"/>
                </a:solidFill>
                <a:latin typeface="Yu Gothic UI"/>
              </a:rPr>
              <a:t>① 速度</a:t>
            </a:r>
          </a:p>
        </p:txBody>
      </p:sp>
      <p:sp>
        <p:nvSpPr>
          <p:cNvPr id="7" name="TextBox 6"/>
          <p:cNvSpPr txBox="1"/>
          <p:nvPr/>
        </p:nvSpPr>
        <p:spPr>
          <a:xfrm>
            <a:off x="1005840" y="2788920"/>
            <a:ext cx="2834640" cy="548640"/>
          </a:xfrm>
          <a:prstGeom prst="rect">
            <a:avLst/>
          </a:prstGeom>
          <a:noFill/>
        </p:spPr>
        <p:txBody>
          <a:bodyPr wrap="square" lIns="45720" rIns="45720" tIns="18288" bIns="18288" anchor="t">
            <a:spAutoFit/>
          </a:bodyPr>
          <a:lstStyle/>
          <a:p>
            <a:pPr algn="l"/>
            <a:r>
              <a:rPr sz="1600" b="1">
                <a:solidFill>
                  <a:srgbClr val="1A1A1A"/>
                </a:solidFill>
                <a:latin typeface="Yu Gothic UI"/>
              </a:rPr>
              <a:t>骨子作成を1/3に</a:t>
            </a:r>
          </a:p>
        </p:txBody>
      </p:sp>
      <p:sp>
        <p:nvSpPr>
          <p:cNvPr id="8" name="TextBox 7"/>
          <p:cNvSpPr txBox="1"/>
          <p:nvPr/>
        </p:nvSpPr>
        <p:spPr>
          <a:xfrm>
            <a:off x="1005840" y="3474720"/>
            <a:ext cx="2834640" cy="2468880"/>
          </a:xfrm>
          <a:prstGeom prst="rect">
            <a:avLst/>
          </a:prstGeom>
          <a:noFill/>
        </p:spPr>
        <p:txBody>
          <a:bodyPr wrap="square" lIns="45720" rIns="45720" tIns="18288" bIns="18288" anchor="t">
            <a:spAutoFit/>
          </a:bodyPr>
          <a:lstStyle/>
          <a:p>
            <a:pPr algn="l"/>
            <a:r>
              <a:rPr sz="1100" b="0">
                <a:solidFill>
                  <a:srgbClr val="1A1A1A"/>
                </a:solidFill>
                <a:latin typeface="Yu Gothic UI"/>
              </a:rPr>
              <a:t>類似案件の流用とテンプレ呼び出しで、過去30時間かかっていた骨子作成が10時間以内に短縮。空いた時間を顧客理解と仮説精度に投下できる。</a:t>
            </a:r>
          </a:p>
        </p:txBody>
      </p:sp>
      <p:sp>
        <p:nvSpPr>
          <p:cNvPr id="9" name="Rectangle 8"/>
          <p:cNvSpPr/>
          <p:nvPr/>
        </p:nvSpPr>
        <p:spPr>
          <a:xfrm>
            <a:off x="4343400" y="2011680"/>
            <a:ext cx="3383280" cy="42062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2011680"/>
            <a:ext cx="3383280" cy="50292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2011680"/>
            <a:ext cx="3383280" cy="502920"/>
          </a:xfrm>
          <a:prstGeom prst="rect">
            <a:avLst/>
          </a:prstGeom>
          <a:noFill/>
        </p:spPr>
        <p:txBody>
          <a:bodyPr wrap="square" lIns="45720" rIns="45720" tIns="18288" bIns="18288" anchor="ctr">
            <a:spAutoFit/>
          </a:bodyPr>
          <a:lstStyle/>
          <a:p>
            <a:pPr algn="ctr"/>
            <a:r>
              <a:rPr sz="1300" b="1">
                <a:solidFill>
                  <a:srgbClr val="FFFFFF"/>
                </a:solidFill>
                <a:latin typeface="Yu Gothic UI"/>
              </a:rPr>
              <a:t>② 品質</a:t>
            </a:r>
          </a:p>
        </p:txBody>
      </p:sp>
      <p:sp>
        <p:nvSpPr>
          <p:cNvPr id="12" name="TextBox 11"/>
          <p:cNvSpPr txBox="1"/>
          <p:nvPr/>
        </p:nvSpPr>
        <p:spPr>
          <a:xfrm>
            <a:off x="4617720" y="2788920"/>
            <a:ext cx="2834640" cy="548640"/>
          </a:xfrm>
          <a:prstGeom prst="rect">
            <a:avLst/>
          </a:prstGeom>
          <a:noFill/>
        </p:spPr>
        <p:txBody>
          <a:bodyPr wrap="square" lIns="45720" rIns="45720" tIns="18288" bIns="18288" anchor="t">
            <a:spAutoFit/>
          </a:bodyPr>
          <a:lstStyle/>
          <a:p>
            <a:pPr algn="l"/>
            <a:r>
              <a:rPr sz="1600" b="1">
                <a:solidFill>
                  <a:srgbClr val="1A1A1A"/>
                </a:solidFill>
                <a:latin typeface="Yu Gothic UI"/>
              </a:rPr>
              <a:t>勝ち筋の型化</a:t>
            </a:r>
          </a:p>
        </p:txBody>
      </p:sp>
      <p:sp>
        <p:nvSpPr>
          <p:cNvPr id="13" name="TextBox 12"/>
          <p:cNvSpPr txBox="1"/>
          <p:nvPr/>
        </p:nvSpPr>
        <p:spPr>
          <a:xfrm>
            <a:off x="4617720" y="3474720"/>
            <a:ext cx="2834640" cy="2468880"/>
          </a:xfrm>
          <a:prstGeom prst="rect">
            <a:avLst/>
          </a:prstGeom>
          <a:noFill/>
        </p:spPr>
        <p:txBody>
          <a:bodyPr wrap="square" lIns="45720" rIns="45720" tIns="18288" bIns="18288" anchor="t">
            <a:spAutoFit/>
          </a:bodyPr>
          <a:lstStyle/>
          <a:p>
            <a:pPr algn="l"/>
            <a:r>
              <a:rPr sz="1100" b="0">
                <a:solidFill>
                  <a:srgbClr val="1A1A1A"/>
                </a:solidFill>
                <a:latin typeface="Yu Gothic UI"/>
              </a:rPr>
              <a:t>BM型ごとの勝ち筋・負け筋が明文化され、初提案でも勘ではなくロジックで戦える。失注理由が次回提案の必須要素として組み込まれる。</a:t>
            </a:r>
          </a:p>
        </p:txBody>
      </p:sp>
      <p:sp>
        <p:nvSpPr>
          <p:cNvPr id="14" name="Rectangle 13"/>
          <p:cNvSpPr/>
          <p:nvPr/>
        </p:nvSpPr>
        <p:spPr>
          <a:xfrm>
            <a:off x="7955280" y="2011680"/>
            <a:ext cx="3383280" cy="4206240"/>
          </a:xfrm>
          <a:prstGeom prst="rect">
            <a:avLst/>
          </a:prstGeom>
          <a:solidFill>
            <a:srgbClr val="E6F8F7"/>
          </a:solidFill>
          <a:ln w="19050">
            <a:solidFill>
              <a:srgbClr val="0E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80" y="2011680"/>
            <a:ext cx="3383280" cy="502920"/>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0" y="2011680"/>
            <a:ext cx="3383280" cy="502920"/>
          </a:xfrm>
          <a:prstGeom prst="rect">
            <a:avLst/>
          </a:prstGeom>
          <a:noFill/>
        </p:spPr>
        <p:txBody>
          <a:bodyPr wrap="square" lIns="45720" rIns="45720" tIns="18288" bIns="18288" anchor="ctr">
            <a:spAutoFit/>
          </a:bodyPr>
          <a:lstStyle/>
          <a:p>
            <a:pPr algn="ctr"/>
            <a:r>
              <a:rPr sz="1300" b="1">
                <a:solidFill>
                  <a:srgbClr val="FFFFFF"/>
                </a:solidFill>
                <a:latin typeface="Yu Gothic UI"/>
              </a:rPr>
              <a:t>③ 資産化</a:t>
            </a:r>
          </a:p>
        </p:txBody>
      </p:sp>
      <p:sp>
        <p:nvSpPr>
          <p:cNvPr id="17" name="TextBox 16"/>
          <p:cNvSpPr txBox="1"/>
          <p:nvPr/>
        </p:nvSpPr>
        <p:spPr>
          <a:xfrm>
            <a:off x="8229600" y="2788920"/>
            <a:ext cx="2834640" cy="548640"/>
          </a:xfrm>
          <a:prstGeom prst="rect">
            <a:avLst/>
          </a:prstGeom>
          <a:noFill/>
        </p:spPr>
        <p:txBody>
          <a:bodyPr wrap="square" lIns="45720" rIns="45720" tIns="18288" bIns="18288" anchor="t">
            <a:spAutoFit/>
          </a:bodyPr>
          <a:lstStyle/>
          <a:p>
            <a:pPr algn="l"/>
            <a:r>
              <a:rPr sz="1600" b="1">
                <a:solidFill>
                  <a:srgbClr val="0EBAB5"/>
                </a:solidFill>
                <a:latin typeface="Yu Gothic UI"/>
              </a:rPr>
              <a:t>教育＋研修教材化</a:t>
            </a:r>
          </a:p>
        </p:txBody>
      </p:sp>
      <p:sp>
        <p:nvSpPr>
          <p:cNvPr id="18" name="TextBox 17"/>
          <p:cNvSpPr txBox="1"/>
          <p:nvPr/>
        </p:nvSpPr>
        <p:spPr>
          <a:xfrm>
            <a:off x="8229600" y="3474720"/>
            <a:ext cx="2834640" cy="2468880"/>
          </a:xfrm>
          <a:prstGeom prst="rect">
            <a:avLst/>
          </a:prstGeom>
          <a:noFill/>
        </p:spPr>
        <p:txBody>
          <a:bodyPr wrap="square" lIns="45720" rIns="45720" tIns="18288" bIns="18288" anchor="t">
            <a:spAutoFit/>
          </a:bodyPr>
          <a:lstStyle/>
          <a:p>
            <a:pPr algn="l"/>
            <a:r>
              <a:rPr sz="1100" b="0">
                <a:solidFill>
                  <a:srgbClr val="1A1A1A"/>
                </a:solidFill>
                <a:latin typeface="Yu Gothic UI"/>
              </a:rPr>
              <a:t>パートナー講師や新メンバーがパターンを学ぶ教材になり、法人研修の事例ストックにも直結。提案資産が事業全体のレバレッジに変わる。</a:t>
            </a:r>
          </a:p>
        </p:txBody>
      </p:sp>
      <p:sp>
        <p:nvSpPr>
          <p:cNvPr id="19" name="Rectangle 18"/>
          <p:cNvSpPr/>
          <p:nvPr/>
        </p:nvSpPr>
        <p:spPr>
          <a:xfrm>
            <a:off x="0" y="6473952"/>
            <a:ext cx="12191695" cy="384048"/>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73952"/>
            <a:ext cx="7315200" cy="384048"/>
          </a:xfrm>
          <a:prstGeom prst="rect">
            <a:avLst/>
          </a:prstGeom>
          <a:noFill/>
        </p:spPr>
        <p:txBody>
          <a:bodyPr wrap="square" lIns="45720" rIns="45720" tIns="18288" bIns="18288" anchor="ctr">
            <a:spAutoFit/>
          </a:bodyPr>
          <a:lstStyle/>
          <a:p>
            <a:pPr algn="l"/>
            <a:r>
              <a:rPr sz="900" b="0">
                <a:solidFill>
                  <a:srgbClr val="FFFFFF"/>
                </a:solidFill>
                <a:latin typeface="Yu Gothic UI"/>
              </a:rPr>
              <a:t>2026. KANDO Marketing. Professional Consulting Service</a:t>
            </a:r>
          </a:p>
        </p:txBody>
      </p:sp>
      <p:sp>
        <p:nvSpPr>
          <p:cNvPr id="21" name="TextBox 20"/>
          <p:cNvSpPr txBox="1"/>
          <p:nvPr/>
        </p:nvSpPr>
        <p:spPr>
          <a:xfrm>
            <a:off x="10362895" y="6473952"/>
            <a:ext cx="1371600" cy="384048"/>
          </a:xfrm>
          <a:prstGeom prst="rect">
            <a:avLst/>
          </a:prstGeom>
          <a:noFill/>
        </p:spPr>
        <p:txBody>
          <a:bodyPr wrap="square" lIns="45720" rIns="45720" tIns="18288" bIns="18288" anchor="ctr">
            <a:spAutoFit/>
          </a:bodyPr>
          <a:lstStyle/>
          <a:p>
            <a:pPr algn="r"/>
            <a:r>
              <a:rPr sz="900" b="0">
                <a:solidFill>
                  <a:srgbClr val="FFFFFF"/>
                </a:solidFill>
                <a:latin typeface="Yu Gothic UI"/>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972800" cy="548640"/>
          </a:xfrm>
          <a:prstGeom prst="rect">
            <a:avLst/>
          </a:prstGeom>
          <a:noFill/>
        </p:spPr>
        <p:txBody>
          <a:bodyPr wrap="square" lIns="45720" rIns="45720" tIns="18288" bIns="18288" anchor="t">
            <a:spAutoFit/>
          </a:bodyPr>
          <a:lstStyle/>
          <a:p>
            <a:pPr algn="l"/>
            <a:r>
              <a:rPr sz="2400" b="1">
                <a:solidFill>
                  <a:srgbClr val="0EBAB5"/>
                </a:solidFill>
                <a:latin typeface="Yu Gothic UI"/>
              </a:rPr>
              <a:t>Git or Driveの選び方</a:t>
            </a:r>
          </a:p>
        </p:txBody>
      </p:sp>
      <p:sp>
        <p:nvSpPr>
          <p:cNvPr id="3" name="TextBox 2"/>
          <p:cNvSpPr txBox="1"/>
          <p:nvPr/>
        </p:nvSpPr>
        <p:spPr>
          <a:xfrm>
            <a:off x="731520" y="914400"/>
            <a:ext cx="10698480" cy="868680"/>
          </a:xfrm>
          <a:prstGeom prst="rect">
            <a:avLst/>
          </a:prstGeom>
          <a:noFill/>
        </p:spPr>
        <p:txBody>
          <a:bodyPr wrap="square" lIns="45720" rIns="45720" tIns="18288" bIns="18288" anchor="t">
            <a:spAutoFit/>
          </a:bodyPr>
          <a:lstStyle/>
          <a:p>
            <a:pPr algn="l"/>
            <a:r>
              <a:rPr sz="1100" b="0">
                <a:solidFill>
                  <a:srgbClr val="555555"/>
                </a:solidFill>
                <a:latin typeface="Yu Gothic UI"/>
              </a:rPr>
              <a:t>環境はGit（GitHub）が第一選択であり、テキスト中心の構造化データ管理とコミット履歴による完全な変更追跡が可能。エンジニアでない協力者が中心の場合は、Google Drive＋MCP連携で代替し、PPTXやPDFの最終成果物管理に強みを発揮する。両者をハイブリッド運用し、Gitに構造化データ・Driveに最終資料を分離するのが理想形である。</a:t>
            </a:r>
          </a:p>
        </p:txBody>
      </p:sp>
      <p:sp>
        <p:nvSpPr>
          <p:cNvPr id="4" name="Rectangle 3"/>
          <p:cNvSpPr/>
          <p:nvPr/>
        </p:nvSpPr>
        <p:spPr>
          <a:xfrm>
            <a:off x="731520" y="2011680"/>
            <a:ext cx="5349240" cy="42062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377440"/>
            <a:ext cx="4617720" cy="457200"/>
          </a:xfrm>
          <a:prstGeom prst="rect">
            <a:avLst/>
          </a:prstGeom>
          <a:noFill/>
        </p:spPr>
        <p:txBody>
          <a:bodyPr wrap="square" lIns="45720" rIns="45720" tIns="18288" bIns="18288" anchor="t">
            <a:spAutoFit/>
          </a:bodyPr>
          <a:lstStyle/>
          <a:p>
            <a:pPr algn="l"/>
            <a:r>
              <a:rPr sz="1400" b="1">
                <a:solidFill>
                  <a:srgbClr val="555555"/>
                </a:solidFill>
                <a:latin typeface="Yu Gothic UI"/>
              </a:rPr>
              <a:t>■ Google Drive＋MCP（代替案）</a:t>
            </a:r>
          </a:p>
        </p:txBody>
      </p:sp>
      <p:sp>
        <p:nvSpPr>
          <p:cNvPr id="6" name="Rectangle 5"/>
          <p:cNvSpPr/>
          <p:nvPr/>
        </p:nvSpPr>
        <p:spPr>
          <a:xfrm>
            <a:off x="1097280" y="2926080"/>
            <a:ext cx="4617720" cy="18288"/>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108960"/>
            <a:ext cx="4617720" cy="3017520"/>
          </a:xfrm>
          <a:prstGeom prst="rect">
            <a:avLst/>
          </a:prstGeom>
          <a:noFill/>
        </p:spPr>
        <p:txBody>
          <a:bodyPr wrap="square" lIns="45720" rIns="45720" tIns="18288" bIns="18288" anchor="t">
            <a:spAutoFit/>
          </a:bodyPr>
          <a:lstStyle/>
          <a:p>
            <a:pPr algn="l"/>
            <a:r>
              <a:rPr sz="1200" b="0">
                <a:solidFill>
                  <a:srgbClr val="1A1A1A"/>
                </a:solidFill>
                <a:latin typeface="Yu Gothic UI"/>
              </a:rPr>
              <a:t>向き：非エンジニア中心、PPTX/PDFの最終資料管理</a:t>
            </a:r>
          </a:p>
          <a:p>
            <a:pPr algn="l"/>
            <a:r>
              <a:rPr sz="1200" b="0">
                <a:solidFill>
                  <a:srgbClr val="1A1A1A"/>
                </a:solidFill>
                <a:latin typeface="Yu Gothic UI"/>
              </a:rPr>
              <a:t>強み：共有が直感的、Drive MCPで横串分析可</a:t>
            </a:r>
          </a:p>
          <a:p>
            <a:pPr algn="l"/>
            <a:r>
              <a:rPr sz="1200" b="0">
                <a:solidFill>
                  <a:srgbClr val="1A1A1A"/>
                </a:solidFill>
                <a:latin typeface="Yu Gothic UI"/>
              </a:rPr>
              <a:t>弱み：版管理が弱い、構造化が緩い</a:t>
            </a:r>
          </a:p>
          <a:p>
            <a:pPr algn="l"/>
            <a:r>
              <a:rPr sz="1200" b="0">
                <a:solidFill>
                  <a:srgbClr val="1A1A1A"/>
                </a:solidFill>
                <a:latin typeface="Yu Gothic UI"/>
              </a:rPr>
              <a:t>必須：00_案件マスタ.gsheet で全meta一覧化</a:t>
            </a:r>
          </a:p>
          <a:p>
            <a:pPr algn="l"/>
            <a:r>
              <a:rPr sz="1200" b="0">
                <a:solidFill>
                  <a:srgbClr val="1A1A1A"/>
                </a:solidFill>
                <a:latin typeface="Yu Gothic UI"/>
              </a:rPr>
              <a:t>推奨者：田代さん・山田さん等の協力者</a:t>
            </a:r>
          </a:p>
        </p:txBody>
      </p:sp>
      <p:sp>
        <p:nvSpPr>
          <p:cNvPr id="8" name="Rectangle 7"/>
          <p:cNvSpPr/>
          <p:nvPr/>
        </p:nvSpPr>
        <p:spPr>
          <a:xfrm>
            <a:off x="6355080" y="2011680"/>
            <a:ext cx="5349240" cy="42062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20840" y="2377440"/>
            <a:ext cx="4617720" cy="457200"/>
          </a:xfrm>
          <a:prstGeom prst="rect">
            <a:avLst/>
          </a:prstGeom>
          <a:noFill/>
        </p:spPr>
        <p:txBody>
          <a:bodyPr wrap="square" lIns="45720" rIns="45720" tIns="18288" bIns="18288" anchor="t">
            <a:spAutoFit/>
          </a:bodyPr>
          <a:lstStyle/>
          <a:p>
            <a:pPr algn="l"/>
            <a:r>
              <a:rPr sz="1400" b="1">
                <a:solidFill>
                  <a:srgbClr val="0EBAB5"/>
                </a:solidFill>
                <a:latin typeface="Yu Gothic UI"/>
              </a:rPr>
              <a:t>■ Git / GitHub（第一選択）</a:t>
            </a:r>
          </a:p>
        </p:txBody>
      </p:sp>
      <p:sp>
        <p:nvSpPr>
          <p:cNvPr id="10" name="Rectangle 9"/>
          <p:cNvSpPr/>
          <p:nvPr/>
        </p:nvSpPr>
        <p:spPr>
          <a:xfrm>
            <a:off x="6720840" y="2926080"/>
            <a:ext cx="4617720" cy="18288"/>
          </a:xfrm>
          <a:prstGeom prst="rect">
            <a:avLst/>
          </a:prstGeom>
          <a:solidFill>
            <a:srgbClr val="406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3108960"/>
            <a:ext cx="4617720" cy="3017520"/>
          </a:xfrm>
          <a:prstGeom prst="rect">
            <a:avLst/>
          </a:prstGeom>
          <a:noFill/>
        </p:spPr>
        <p:txBody>
          <a:bodyPr wrap="square" lIns="45720" rIns="45720" tIns="18288" bIns="18288" anchor="t">
            <a:spAutoFit/>
          </a:bodyPr>
          <a:lstStyle/>
          <a:p>
            <a:pPr algn="l"/>
            <a:r>
              <a:rPr sz="1200" b="0">
                <a:solidFill>
                  <a:srgbClr val="DDDDDD"/>
                </a:solidFill>
                <a:latin typeface="Yu Gothic UI"/>
              </a:rPr>
              <a:t>向き：テキスト中心の構造化データ管理</a:t>
            </a:r>
          </a:p>
          <a:p>
            <a:pPr algn="l"/>
            <a:r>
              <a:rPr sz="1200" b="0">
                <a:solidFill>
                  <a:srgbClr val="DDDDDD"/>
                </a:solidFill>
                <a:latin typeface="Yu Gothic UI"/>
              </a:rPr>
              <a:t>強み：コミット履歴で完全な変更追跡、Skills統合</a:t>
            </a:r>
          </a:p>
          <a:p>
            <a:pPr algn="l"/>
            <a:r>
              <a:rPr sz="1200" b="0">
                <a:solidFill>
                  <a:srgbClr val="DDDDDD"/>
                </a:solidFill>
                <a:latin typeface="Yu Gothic UI"/>
              </a:rPr>
              <a:t>弱み：非エンジニアの学習コスト</a:t>
            </a:r>
          </a:p>
          <a:p>
            <a:pPr algn="l"/>
            <a:r>
              <a:rPr sz="1200" b="0">
                <a:solidFill>
                  <a:srgbClr val="DDDDDD"/>
                </a:solidFill>
                <a:latin typeface="Yu Gothic UI"/>
              </a:rPr>
              <a:t>必須：meta.yml と result.md の2ファイルのみ</a:t>
            </a:r>
          </a:p>
          <a:p>
            <a:pPr algn="l"/>
            <a:r>
              <a:rPr sz="1200" b="0">
                <a:solidFill>
                  <a:srgbClr val="DDDDDD"/>
                </a:solidFill>
                <a:latin typeface="Yu Gothic UI"/>
              </a:rPr>
              <a:t>推奨者：あきらさん本人・kando-skills連携</a:t>
            </a:r>
          </a:p>
        </p:txBody>
      </p:sp>
      <p:sp>
        <p:nvSpPr>
          <p:cNvPr id="12" name="Rectangle 11"/>
          <p:cNvSpPr/>
          <p:nvPr/>
        </p:nvSpPr>
        <p:spPr>
          <a:xfrm>
            <a:off x="0" y="6473952"/>
            <a:ext cx="12191695" cy="384048"/>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73952"/>
            <a:ext cx="7315200" cy="384048"/>
          </a:xfrm>
          <a:prstGeom prst="rect">
            <a:avLst/>
          </a:prstGeom>
          <a:noFill/>
        </p:spPr>
        <p:txBody>
          <a:bodyPr wrap="square" lIns="45720" rIns="45720" tIns="18288" bIns="18288" anchor="ctr">
            <a:spAutoFit/>
          </a:bodyPr>
          <a:lstStyle/>
          <a:p>
            <a:pPr algn="l"/>
            <a:r>
              <a:rPr sz="900" b="0">
                <a:solidFill>
                  <a:srgbClr val="FFFFFF"/>
                </a:solidFill>
                <a:latin typeface="Yu Gothic UI"/>
              </a:rPr>
              <a:t>2026. KANDO Marketing. Professional Consulting Service</a:t>
            </a:r>
          </a:p>
        </p:txBody>
      </p:sp>
      <p:sp>
        <p:nvSpPr>
          <p:cNvPr id="14" name="TextBox 13"/>
          <p:cNvSpPr txBox="1"/>
          <p:nvPr/>
        </p:nvSpPr>
        <p:spPr>
          <a:xfrm>
            <a:off x="10362895" y="6473952"/>
            <a:ext cx="1371600" cy="384048"/>
          </a:xfrm>
          <a:prstGeom prst="rect">
            <a:avLst/>
          </a:prstGeom>
          <a:noFill/>
        </p:spPr>
        <p:txBody>
          <a:bodyPr wrap="square" lIns="45720" rIns="45720" tIns="18288" bIns="18288" anchor="ctr">
            <a:spAutoFit/>
          </a:bodyPr>
          <a:lstStyle/>
          <a:p>
            <a:pPr algn="r"/>
            <a:r>
              <a:rPr sz="900" b="0">
                <a:solidFill>
                  <a:srgbClr val="FFFFFF"/>
                </a:solidFill>
                <a:latin typeface="Yu Gothic UI"/>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972800" cy="548640"/>
          </a:xfrm>
          <a:prstGeom prst="rect">
            <a:avLst/>
          </a:prstGeom>
          <a:noFill/>
        </p:spPr>
        <p:txBody>
          <a:bodyPr wrap="square" lIns="45720" rIns="45720" tIns="18288" bIns="18288" anchor="t">
            <a:spAutoFit/>
          </a:bodyPr>
          <a:lstStyle/>
          <a:p>
            <a:pPr algn="l"/>
            <a:r>
              <a:rPr sz="2400" b="1">
                <a:solidFill>
                  <a:srgbClr val="0EBAB5"/>
                </a:solidFill>
                <a:latin typeface="Yu Gothic UI"/>
              </a:rPr>
              <a:t>4週間スモールスタート</a:t>
            </a:r>
          </a:p>
        </p:txBody>
      </p:sp>
      <p:sp>
        <p:nvSpPr>
          <p:cNvPr id="3" name="TextBox 2"/>
          <p:cNvSpPr txBox="1"/>
          <p:nvPr/>
        </p:nvSpPr>
        <p:spPr>
          <a:xfrm>
            <a:off x="731520" y="914400"/>
            <a:ext cx="10698480" cy="868680"/>
          </a:xfrm>
          <a:prstGeom prst="rect">
            <a:avLst/>
          </a:prstGeom>
          <a:noFill/>
        </p:spPr>
        <p:txBody>
          <a:bodyPr wrap="square" lIns="45720" rIns="45720" tIns="18288" bIns="18288" anchor="t">
            <a:spAutoFit/>
          </a:bodyPr>
          <a:lstStyle/>
          <a:p>
            <a:pPr algn="l"/>
            <a:r>
              <a:rPr sz="1100" b="0">
                <a:solidFill>
                  <a:srgbClr val="555555"/>
                </a:solidFill>
                <a:latin typeface="Yu Gothic UI"/>
              </a:rPr>
              <a:t>完璧な設計を目指すより、直近3案件の手動入力から始めて4週間で1ループ回しきることが最優先。Week1でリポジトリやDriveの土台を整備し、Week2で過去案件をmeta化、Week3で最初のパターン文書を1本書き起こし、Week4で新規提案にて実運用テストする。スモールスタートで運用感覚を掴んでから自動化を検討する流れが失敗しない。</a:t>
            </a:r>
          </a:p>
        </p:txBody>
      </p:sp>
      <p:sp>
        <p:nvSpPr>
          <p:cNvPr id="4" name="Oval 3"/>
          <p:cNvSpPr/>
          <p:nvPr/>
        </p:nvSpPr>
        <p:spPr>
          <a:xfrm>
            <a:off x="1500987" y="2743200"/>
            <a:ext cx="685800" cy="685800"/>
          </a:xfrm>
          <a:prstGeom prst="ellipse">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0987" y="2743200"/>
            <a:ext cx="685800" cy="685800"/>
          </a:xfrm>
          <a:prstGeom prst="rect">
            <a:avLst/>
          </a:prstGeom>
          <a:noFill/>
        </p:spPr>
        <p:txBody>
          <a:bodyPr wrap="square" lIns="45720" rIns="45720" tIns="18288" bIns="18288" anchor="ctr">
            <a:spAutoFit/>
          </a:bodyPr>
          <a:lstStyle/>
          <a:p>
            <a:pPr algn="ctr"/>
            <a:r>
              <a:rPr sz="1400" b="1">
                <a:solidFill>
                  <a:srgbClr val="FFFFFF"/>
                </a:solidFill>
                <a:latin typeface="Yu Gothic UI"/>
              </a:rPr>
              <a:t>W1</a:t>
            </a:r>
          </a:p>
        </p:txBody>
      </p:sp>
      <p:sp>
        <p:nvSpPr>
          <p:cNvPr id="6" name="TextBox 5"/>
          <p:cNvSpPr txBox="1"/>
          <p:nvPr/>
        </p:nvSpPr>
        <p:spPr>
          <a:xfrm>
            <a:off x="609447" y="3611880"/>
            <a:ext cx="2468880" cy="365760"/>
          </a:xfrm>
          <a:prstGeom prst="rect">
            <a:avLst/>
          </a:prstGeom>
          <a:noFill/>
        </p:spPr>
        <p:txBody>
          <a:bodyPr wrap="square" lIns="45720" rIns="45720" tIns="18288" bIns="18288" anchor="t">
            <a:spAutoFit/>
          </a:bodyPr>
          <a:lstStyle/>
          <a:p>
            <a:pPr algn="ctr"/>
            <a:r>
              <a:rPr sz="1300" b="1">
                <a:solidFill>
                  <a:srgbClr val="1A1A1A"/>
                </a:solidFill>
                <a:latin typeface="Yu Gothic UI"/>
              </a:rPr>
              <a:t>土台整備</a:t>
            </a:r>
          </a:p>
        </p:txBody>
      </p:sp>
      <p:sp>
        <p:nvSpPr>
          <p:cNvPr id="7" name="TextBox 6"/>
          <p:cNvSpPr txBox="1"/>
          <p:nvPr/>
        </p:nvSpPr>
        <p:spPr>
          <a:xfrm>
            <a:off x="609447" y="4023360"/>
            <a:ext cx="2468880" cy="1097280"/>
          </a:xfrm>
          <a:prstGeom prst="rect">
            <a:avLst/>
          </a:prstGeom>
          <a:noFill/>
        </p:spPr>
        <p:txBody>
          <a:bodyPr wrap="square" lIns="45720" rIns="45720" tIns="18288" bIns="18288" anchor="t">
            <a:spAutoFit/>
          </a:bodyPr>
          <a:lstStyle/>
          <a:p>
            <a:pPr algn="ctr"/>
            <a:r>
              <a:rPr sz="1000" b="0">
                <a:solidFill>
                  <a:srgbClr val="555555"/>
                </a:solidFill>
                <a:latin typeface="Yu Gothic UI"/>
              </a:rPr>
              <a:t>リポジトリ作成または</a:t>
            </a:r>
          </a:p>
          <a:p>
            <a:pPr algn="ctr"/>
            <a:r>
              <a:rPr sz="1000" b="0">
                <a:solidFill>
                  <a:srgbClr val="555555"/>
                </a:solidFill>
                <a:latin typeface="Yu Gothic UI"/>
              </a:rPr>
              <a:t>Driveフォルダ整備</a:t>
            </a:r>
          </a:p>
          <a:p>
            <a:pPr algn="ctr"/>
            <a:r>
              <a:rPr sz="1000" b="0">
                <a:solidFill>
                  <a:srgbClr val="555555"/>
                </a:solidFill>
                <a:latin typeface="Yu Gothic UI"/>
              </a:rPr>
              <a:t>テンプレ準備</a:t>
            </a:r>
          </a:p>
        </p:txBody>
      </p:sp>
      <p:cxnSp>
        <p:nvCxnSpPr>
          <p:cNvPr id="8" name="Connector 7"/>
          <p:cNvCxnSpPr/>
          <p:nvPr/>
        </p:nvCxnSpPr>
        <p:spPr>
          <a:xfrm>
            <a:off x="3124047.5" y="3086100.0"/>
            <a:ext cx="274320.0" cy="0.0"/>
          </a:xfrm>
          <a:prstGeom prst="line">
            <a:avLst/>
          </a:prstGeom>
          <a:ln w="19050">
            <a:solidFill>
              <a:srgbClr val="888888"/>
            </a:solidFill>
          </a:ln>
        </p:spPr>
        <p:style>
          <a:lnRef idx="2">
            <a:schemeClr val="accent1"/>
          </a:lnRef>
          <a:fillRef idx="0">
            <a:schemeClr val="accent1"/>
          </a:fillRef>
          <a:effectRef idx="1">
            <a:schemeClr val="accent1"/>
          </a:effectRef>
          <a:fontRef idx="minor">
            <a:schemeClr val="tx1"/>
          </a:fontRef>
        </p:style>
      </p:cxnSp>
      <p:sp>
        <p:nvSpPr>
          <p:cNvPr id="9" name="Isosceles Triangle 8"/>
          <p:cNvSpPr/>
          <p:nvPr/>
        </p:nvSpPr>
        <p:spPr>
          <a:xfrm rot="5400000">
            <a:off x="3334359" y="3031236"/>
            <a:ext cx="128016" cy="109728"/>
          </a:xfrm>
          <a:prstGeom prst="triangle">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35627" y="2743200"/>
            <a:ext cx="685800" cy="685800"/>
          </a:xfrm>
          <a:prstGeom prst="ellipse">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5627" y="2743200"/>
            <a:ext cx="685800" cy="685800"/>
          </a:xfrm>
          <a:prstGeom prst="rect">
            <a:avLst/>
          </a:prstGeom>
          <a:noFill/>
        </p:spPr>
        <p:txBody>
          <a:bodyPr wrap="square" lIns="45720" rIns="45720" tIns="18288" bIns="18288" anchor="ctr">
            <a:spAutoFit/>
          </a:bodyPr>
          <a:lstStyle/>
          <a:p>
            <a:pPr algn="ctr"/>
            <a:r>
              <a:rPr sz="1400" b="1">
                <a:solidFill>
                  <a:srgbClr val="FFFFFF"/>
                </a:solidFill>
                <a:latin typeface="Yu Gothic UI"/>
              </a:rPr>
              <a:t>W2</a:t>
            </a:r>
          </a:p>
        </p:txBody>
      </p:sp>
      <p:sp>
        <p:nvSpPr>
          <p:cNvPr id="12" name="TextBox 11"/>
          <p:cNvSpPr txBox="1"/>
          <p:nvPr/>
        </p:nvSpPr>
        <p:spPr>
          <a:xfrm>
            <a:off x="3444087" y="3611880"/>
            <a:ext cx="2468880" cy="365760"/>
          </a:xfrm>
          <a:prstGeom prst="rect">
            <a:avLst/>
          </a:prstGeom>
          <a:noFill/>
        </p:spPr>
        <p:txBody>
          <a:bodyPr wrap="square" lIns="45720" rIns="45720" tIns="18288" bIns="18288" anchor="t">
            <a:spAutoFit/>
          </a:bodyPr>
          <a:lstStyle/>
          <a:p>
            <a:pPr algn="ctr"/>
            <a:r>
              <a:rPr sz="1300" b="1">
                <a:solidFill>
                  <a:srgbClr val="1A1A1A"/>
                </a:solidFill>
                <a:latin typeface="Yu Gothic UI"/>
              </a:rPr>
              <a:t>過去案件移行</a:t>
            </a:r>
          </a:p>
        </p:txBody>
      </p:sp>
      <p:sp>
        <p:nvSpPr>
          <p:cNvPr id="13" name="TextBox 12"/>
          <p:cNvSpPr txBox="1"/>
          <p:nvPr/>
        </p:nvSpPr>
        <p:spPr>
          <a:xfrm>
            <a:off x="3444087" y="4023360"/>
            <a:ext cx="2468880" cy="1097280"/>
          </a:xfrm>
          <a:prstGeom prst="rect">
            <a:avLst/>
          </a:prstGeom>
          <a:noFill/>
        </p:spPr>
        <p:txBody>
          <a:bodyPr wrap="square" lIns="45720" rIns="45720" tIns="18288" bIns="18288" anchor="t">
            <a:spAutoFit/>
          </a:bodyPr>
          <a:lstStyle/>
          <a:p>
            <a:pPr algn="ctr"/>
            <a:r>
              <a:rPr sz="1000" b="0">
                <a:solidFill>
                  <a:srgbClr val="555555"/>
                </a:solidFill>
                <a:latin typeface="Yu Gothic UI"/>
              </a:rPr>
              <a:t>直近3案件を</a:t>
            </a:r>
          </a:p>
          <a:p>
            <a:pPr algn="ctr"/>
            <a:r>
              <a:rPr sz="1000" b="0">
                <a:solidFill>
                  <a:srgbClr val="555555"/>
                </a:solidFill>
                <a:latin typeface="Yu Gothic UI"/>
              </a:rPr>
              <a:t>meta.yml化</a:t>
            </a:r>
          </a:p>
          <a:p>
            <a:pPr algn="ctr"/>
            <a:r>
              <a:rPr sz="1000" b="0">
                <a:solidFill>
                  <a:srgbClr val="555555"/>
                </a:solidFill>
                <a:latin typeface="Yu Gothic UI"/>
              </a:rPr>
              <a:t>result.md記入</a:t>
            </a:r>
          </a:p>
        </p:txBody>
      </p:sp>
      <p:cxnSp>
        <p:nvCxnSpPr>
          <p:cNvPr id="14" name="Connector 13"/>
          <p:cNvCxnSpPr/>
          <p:nvPr/>
        </p:nvCxnSpPr>
        <p:spPr>
          <a:xfrm>
            <a:off x="5958687.5" y="3086100.0"/>
            <a:ext cx="274320.0" cy="0.0"/>
          </a:xfrm>
          <a:prstGeom prst="line">
            <a:avLst/>
          </a:prstGeom>
          <a:ln w="19050">
            <a:solidFill>
              <a:srgbClr val="888888"/>
            </a:solidFill>
          </a:ln>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6168999" y="3031236"/>
            <a:ext cx="128016" cy="109728"/>
          </a:xfrm>
          <a:prstGeom prst="triangle">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70267" y="2743200"/>
            <a:ext cx="685800" cy="685800"/>
          </a:xfrm>
          <a:prstGeom prst="ellipse">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70267" y="2743200"/>
            <a:ext cx="685800" cy="685800"/>
          </a:xfrm>
          <a:prstGeom prst="rect">
            <a:avLst/>
          </a:prstGeom>
          <a:noFill/>
        </p:spPr>
        <p:txBody>
          <a:bodyPr wrap="square" lIns="45720" rIns="45720" tIns="18288" bIns="18288" anchor="ctr">
            <a:spAutoFit/>
          </a:bodyPr>
          <a:lstStyle/>
          <a:p>
            <a:pPr algn="ctr"/>
            <a:r>
              <a:rPr sz="1400" b="1">
                <a:solidFill>
                  <a:srgbClr val="FFFFFF"/>
                </a:solidFill>
                <a:latin typeface="Yu Gothic UI"/>
              </a:rPr>
              <a:t>W3</a:t>
            </a:r>
          </a:p>
        </p:txBody>
      </p:sp>
      <p:sp>
        <p:nvSpPr>
          <p:cNvPr id="18" name="TextBox 17"/>
          <p:cNvSpPr txBox="1"/>
          <p:nvPr/>
        </p:nvSpPr>
        <p:spPr>
          <a:xfrm>
            <a:off x="6278727" y="3611880"/>
            <a:ext cx="2468880" cy="365760"/>
          </a:xfrm>
          <a:prstGeom prst="rect">
            <a:avLst/>
          </a:prstGeom>
          <a:noFill/>
        </p:spPr>
        <p:txBody>
          <a:bodyPr wrap="square" lIns="45720" rIns="45720" tIns="18288" bIns="18288" anchor="t">
            <a:spAutoFit/>
          </a:bodyPr>
          <a:lstStyle/>
          <a:p>
            <a:pPr algn="ctr"/>
            <a:r>
              <a:rPr sz="1300" b="1">
                <a:solidFill>
                  <a:srgbClr val="1A1A1A"/>
                </a:solidFill>
                <a:latin typeface="Yu Gothic UI"/>
              </a:rPr>
              <a:t>パターン抽出</a:t>
            </a:r>
          </a:p>
        </p:txBody>
      </p:sp>
      <p:sp>
        <p:nvSpPr>
          <p:cNvPr id="19" name="TextBox 18"/>
          <p:cNvSpPr txBox="1"/>
          <p:nvPr/>
        </p:nvSpPr>
        <p:spPr>
          <a:xfrm>
            <a:off x="6278727" y="4023360"/>
            <a:ext cx="2468880" cy="1097280"/>
          </a:xfrm>
          <a:prstGeom prst="rect">
            <a:avLst/>
          </a:prstGeom>
          <a:noFill/>
        </p:spPr>
        <p:txBody>
          <a:bodyPr wrap="square" lIns="45720" rIns="45720" tIns="18288" bIns="18288" anchor="t">
            <a:spAutoFit/>
          </a:bodyPr>
          <a:lstStyle/>
          <a:p>
            <a:pPr algn="ctr"/>
            <a:r>
              <a:rPr sz="1000" b="0">
                <a:solidFill>
                  <a:srgbClr val="555555"/>
                </a:solidFill>
                <a:latin typeface="Yu Gothic UI"/>
              </a:rPr>
              <a:t>最初のpattern.mdを</a:t>
            </a:r>
          </a:p>
          <a:p>
            <a:pPr algn="ctr"/>
            <a:r>
              <a:rPr sz="1000" b="0">
                <a:solidFill>
                  <a:srgbClr val="555555"/>
                </a:solidFill>
                <a:latin typeface="Yu Gothic UI"/>
              </a:rPr>
              <a:t>手書きで1本作成</a:t>
            </a:r>
          </a:p>
          <a:p>
            <a:pPr algn="ctr"/>
            <a:r>
              <a:rPr sz="1000" b="0">
                <a:solidFill>
                  <a:srgbClr val="555555"/>
                </a:solidFill>
                <a:latin typeface="Yu Gothic UI"/>
              </a:rPr>
              <a:t>勝ち筋を言語化</a:t>
            </a:r>
          </a:p>
        </p:txBody>
      </p:sp>
      <p:cxnSp>
        <p:nvCxnSpPr>
          <p:cNvPr id="20" name="Connector 19"/>
          <p:cNvCxnSpPr/>
          <p:nvPr/>
        </p:nvCxnSpPr>
        <p:spPr>
          <a:xfrm>
            <a:off x="8793327.5" y="3086100.0"/>
            <a:ext cx="274320.0" cy="0.0"/>
          </a:xfrm>
          <a:prstGeom prst="line">
            <a:avLst/>
          </a:prstGeom>
          <a:ln w="19050">
            <a:solidFill>
              <a:srgbClr val="0EBAB5"/>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5400000">
            <a:off x="9003639" y="3031236"/>
            <a:ext cx="128016" cy="109728"/>
          </a:xfrm>
          <a:prstGeom prst="triangle">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959187" y="2743200"/>
            <a:ext cx="777240" cy="777240"/>
          </a:xfrm>
          <a:prstGeom prst="ellipse">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59187" y="2743200"/>
            <a:ext cx="777240" cy="777240"/>
          </a:xfrm>
          <a:prstGeom prst="rect">
            <a:avLst/>
          </a:prstGeom>
          <a:noFill/>
        </p:spPr>
        <p:txBody>
          <a:bodyPr wrap="square" lIns="45720" rIns="45720" tIns="18288" bIns="18288" anchor="ctr">
            <a:spAutoFit/>
          </a:bodyPr>
          <a:lstStyle/>
          <a:p>
            <a:pPr algn="ctr"/>
            <a:r>
              <a:rPr sz="1400" b="1">
                <a:solidFill>
                  <a:srgbClr val="FFFFFF"/>
                </a:solidFill>
                <a:latin typeface="Yu Gothic UI"/>
              </a:rPr>
              <a:t>W4</a:t>
            </a:r>
          </a:p>
        </p:txBody>
      </p:sp>
      <p:sp>
        <p:nvSpPr>
          <p:cNvPr id="24" name="TextBox 23"/>
          <p:cNvSpPr txBox="1"/>
          <p:nvPr/>
        </p:nvSpPr>
        <p:spPr>
          <a:xfrm>
            <a:off x="9113367" y="3703320"/>
            <a:ext cx="2468880" cy="365760"/>
          </a:xfrm>
          <a:prstGeom prst="rect">
            <a:avLst/>
          </a:prstGeom>
          <a:noFill/>
        </p:spPr>
        <p:txBody>
          <a:bodyPr wrap="square" lIns="45720" rIns="45720" tIns="18288" bIns="18288" anchor="t">
            <a:spAutoFit/>
          </a:bodyPr>
          <a:lstStyle/>
          <a:p>
            <a:pPr algn="ctr"/>
            <a:r>
              <a:rPr sz="1300" b="1">
                <a:solidFill>
                  <a:srgbClr val="0EBAB5"/>
                </a:solidFill>
                <a:latin typeface="Yu Gothic UI"/>
              </a:rPr>
              <a:t>実運用テスト</a:t>
            </a:r>
          </a:p>
        </p:txBody>
      </p:sp>
      <p:sp>
        <p:nvSpPr>
          <p:cNvPr id="25" name="TextBox 24"/>
          <p:cNvSpPr txBox="1"/>
          <p:nvPr/>
        </p:nvSpPr>
        <p:spPr>
          <a:xfrm>
            <a:off x="9113367" y="4114800"/>
            <a:ext cx="2468880" cy="1097280"/>
          </a:xfrm>
          <a:prstGeom prst="rect">
            <a:avLst/>
          </a:prstGeom>
          <a:noFill/>
        </p:spPr>
        <p:txBody>
          <a:bodyPr wrap="square" lIns="45720" rIns="45720" tIns="18288" bIns="18288" anchor="t">
            <a:spAutoFit/>
          </a:bodyPr>
          <a:lstStyle/>
          <a:p>
            <a:pPr algn="ctr"/>
            <a:r>
              <a:rPr sz="1000" b="0">
                <a:solidFill>
                  <a:srgbClr val="555555"/>
                </a:solidFill>
                <a:latin typeface="Yu Gothic UI"/>
              </a:rPr>
              <a:t>新規提案で過去案件を</a:t>
            </a:r>
          </a:p>
          <a:p>
            <a:pPr algn="ctr"/>
            <a:r>
              <a:rPr sz="1000" b="0">
                <a:solidFill>
                  <a:srgbClr val="555555"/>
                </a:solidFill>
                <a:latin typeface="Yu Gothic UI"/>
              </a:rPr>
              <a:t>自動引当</a:t>
            </a:r>
          </a:p>
          <a:p>
            <a:pPr algn="ctr"/>
            <a:r>
              <a:rPr sz="1000" b="0">
                <a:solidFill>
                  <a:srgbClr val="555555"/>
                </a:solidFill>
                <a:latin typeface="Yu Gothic UI"/>
              </a:rPr>
              <a:t>1ループ完走</a:t>
            </a:r>
          </a:p>
        </p:txBody>
      </p:sp>
      <p:sp>
        <p:nvSpPr>
          <p:cNvPr id="26" name="Rectangle 25"/>
          <p:cNvSpPr/>
          <p:nvPr/>
        </p:nvSpPr>
        <p:spPr>
          <a:xfrm>
            <a:off x="0" y="6473952"/>
            <a:ext cx="12191695" cy="384048"/>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473952"/>
            <a:ext cx="7315200" cy="384048"/>
          </a:xfrm>
          <a:prstGeom prst="rect">
            <a:avLst/>
          </a:prstGeom>
          <a:noFill/>
        </p:spPr>
        <p:txBody>
          <a:bodyPr wrap="square" lIns="45720" rIns="45720" tIns="18288" bIns="18288" anchor="ctr">
            <a:spAutoFit/>
          </a:bodyPr>
          <a:lstStyle/>
          <a:p>
            <a:pPr algn="l"/>
            <a:r>
              <a:rPr sz="900" b="0">
                <a:solidFill>
                  <a:srgbClr val="FFFFFF"/>
                </a:solidFill>
                <a:latin typeface="Yu Gothic UI"/>
              </a:rPr>
              <a:t>2026. KANDO Marketing. Professional Consulting Service</a:t>
            </a:r>
          </a:p>
        </p:txBody>
      </p:sp>
      <p:sp>
        <p:nvSpPr>
          <p:cNvPr id="28" name="TextBox 27"/>
          <p:cNvSpPr txBox="1"/>
          <p:nvPr/>
        </p:nvSpPr>
        <p:spPr>
          <a:xfrm>
            <a:off x="10362895" y="6473952"/>
            <a:ext cx="1371600" cy="384048"/>
          </a:xfrm>
          <a:prstGeom prst="rect">
            <a:avLst/>
          </a:prstGeom>
          <a:noFill/>
        </p:spPr>
        <p:txBody>
          <a:bodyPr wrap="square" lIns="45720" rIns="45720" tIns="18288" bIns="18288" anchor="ctr">
            <a:spAutoFit/>
          </a:bodyPr>
          <a:lstStyle/>
          <a:p>
            <a:pPr algn="r"/>
            <a:r>
              <a:rPr sz="900" b="0">
                <a:solidFill>
                  <a:srgbClr val="FFFFFF"/>
                </a:solidFill>
                <a:latin typeface="Yu Gothic UI"/>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972800" cy="548640"/>
          </a:xfrm>
          <a:prstGeom prst="rect">
            <a:avLst/>
          </a:prstGeom>
          <a:noFill/>
        </p:spPr>
        <p:txBody>
          <a:bodyPr wrap="square" lIns="45720" rIns="45720" tIns="18288" bIns="18288" anchor="t">
            <a:spAutoFit/>
          </a:bodyPr>
          <a:lstStyle/>
          <a:p>
            <a:pPr algn="l"/>
            <a:r>
              <a:rPr sz="2400" b="1">
                <a:solidFill>
                  <a:srgbClr val="0EBAB5"/>
                </a:solidFill>
                <a:latin typeface="Yu Gothic UI"/>
              </a:rPr>
              <a:t>なぜ今、必要か</a:t>
            </a:r>
          </a:p>
        </p:txBody>
      </p:sp>
      <p:sp>
        <p:nvSpPr>
          <p:cNvPr id="3" name="TextBox 2"/>
          <p:cNvSpPr txBox="1"/>
          <p:nvPr/>
        </p:nvSpPr>
        <p:spPr>
          <a:xfrm>
            <a:off x="731520" y="914400"/>
            <a:ext cx="10698480" cy="868680"/>
          </a:xfrm>
          <a:prstGeom prst="rect">
            <a:avLst/>
          </a:prstGeom>
          <a:noFill/>
        </p:spPr>
        <p:txBody>
          <a:bodyPr wrap="square" lIns="45720" rIns="45720" tIns="18288" bIns="18288" anchor="t">
            <a:spAutoFit/>
          </a:bodyPr>
          <a:lstStyle/>
          <a:p>
            <a:pPr algn="l"/>
            <a:r>
              <a:rPr sz="1100" b="0">
                <a:solidFill>
                  <a:srgbClr val="555555"/>
                </a:solidFill>
                <a:latin typeface="Yu Gothic UI"/>
              </a:rPr>
              <a:t>提案ナレッジが個人の頭の中に閉じている限り、勝率は属人的なまま頭打ちとなる。提案書は作って終わりで再利用されず、受注/失注の理由も言語化されず次に活かされず、似た案件で毎回ゼロから作り続けている。この3つの課題を放置すれば、案件数が増えるほど時間を失い続ける構造から抜け出せない。</a:t>
            </a:r>
          </a:p>
        </p:txBody>
      </p:sp>
      <p:sp>
        <p:nvSpPr>
          <p:cNvPr id="4" name="Rectangle 3"/>
          <p:cNvSpPr/>
          <p:nvPr/>
        </p:nvSpPr>
        <p:spPr>
          <a:xfrm>
            <a:off x="731520" y="2103120"/>
            <a:ext cx="1828800" cy="12344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03120"/>
            <a:ext cx="1828800" cy="1234440"/>
          </a:xfrm>
          <a:prstGeom prst="rect">
            <a:avLst/>
          </a:prstGeom>
          <a:noFill/>
        </p:spPr>
        <p:txBody>
          <a:bodyPr wrap="square" lIns="45720" rIns="45720" tIns="18288" bIns="18288" anchor="ctr">
            <a:spAutoFit/>
          </a:bodyPr>
          <a:lstStyle/>
          <a:p>
            <a:pPr algn="ctr"/>
            <a:r>
              <a:rPr sz="1400" b="1">
                <a:solidFill>
                  <a:srgbClr val="FFFFFF"/>
                </a:solidFill>
                <a:latin typeface="Yu Gothic UI"/>
              </a:rPr>
              <a:t>課題</a:t>
            </a:r>
          </a:p>
        </p:txBody>
      </p:sp>
      <p:sp>
        <p:nvSpPr>
          <p:cNvPr id="6" name="Rectangle 5"/>
          <p:cNvSpPr/>
          <p:nvPr/>
        </p:nvSpPr>
        <p:spPr>
          <a:xfrm>
            <a:off x="2560320" y="2103120"/>
            <a:ext cx="8869680" cy="12344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0" y="2103120"/>
            <a:ext cx="8138160" cy="1234440"/>
          </a:xfrm>
          <a:prstGeom prst="rect">
            <a:avLst/>
          </a:prstGeom>
          <a:noFill/>
        </p:spPr>
        <p:txBody>
          <a:bodyPr wrap="square" lIns="45720" rIns="45720" tIns="18288" bIns="18288" anchor="ctr">
            <a:spAutoFit/>
          </a:bodyPr>
          <a:lstStyle/>
          <a:p>
            <a:pPr algn="l"/>
            <a:r>
              <a:rPr sz="1200" b="0">
                <a:solidFill>
                  <a:srgbClr val="1A1A1A"/>
                </a:solidFill>
                <a:latin typeface="Yu Gothic UI"/>
              </a:rPr>
              <a:t>提案書は作って終わりで再利用されない／受注理由が言語化されない／似た案件で毎回ゼロから作っている</a:t>
            </a:r>
          </a:p>
        </p:txBody>
      </p:sp>
      <p:sp>
        <p:nvSpPr>
          <p:cNvPr id="8" name="Rectangle 7"/>
          <p:cNvSpPr/>
          <p:nvPr/>
        </p:nvSpPr>
        <p:spPr>
          <a:xfrm>
            <a:off x="731520" y="3474720"/>
            <a:ext cx="1828800" cy="12344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1828800" cy="1234440"/>
          </a:xfrm>
          <a:prstGeom prst="rect">
            <a:avLst/>
          </a:prstGeom>
          <a:noFill/>
        </p:spPr>
        <p:txBody>
          <a:bodyPr wrap="square" lIns="45720" rIns="45720" tIns="18288" bIns="18288" anchor="ctr">
            <a:spAutoFit/>
          </a:bodyPr>
          <a:lstStyle/>
          <a:p>
            <a:pPr algn="ctr"/>
            <a:r>
              <a:rPr sz="1400" b="1">
                <a:solidFill>
                  <a:srgbClr val="FFFFFF"/>
                </a:solidFill>
                <a:latin typeface="Yu Gothic UI"/>
              </a:rPr>
              <a:t>原因</a:t>
            </a:r>
          </a:p>
        </p:txBody>
      </p:sp>
      <p:sp>
        <p:nvSpPr>
          <p:cNvPr id="10" name="Rectangle 9"/>
          <p:cNvSpPr/>
          <p:nvPr/>
        </p:nvSpPr>
        <p:spPr>
          <a:xfrm>
            <a:off x="2560320" y="3474720"/>
            <a:ext cx="8869680" cy="12344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3474720"/>
            <a:ext cx="8138160" cy="1234440"/>
          </a:xfrm>
          <a:prstGeom prst="rect">
            <a:avLst/>
          </a:prstGeom>
          <a:noFill/>
        </p:spPr>
        <p:txBody>
          <a:bodyPr wrap="square" lIns="45720" rIns="45720" tIns="18288" bIns="18288" anchor="ctr">
            <a:spAutoFit/>
          </a:bodyPr>
          <a:lstStyle/>
          <a:p>
            <a:pPr algn="l"/>
            <a:r>
              <a:rPr sz="1200" b="0">
                <a:solidFill>
                  <a:srgbClr val="1A1A1A"/>
                </a:solidFill>
                <a:latin typeface="Yu Gothic UI"/>
              </a:rPr>
              <a:t>個人の頭の中に閉じた暗黙知／案件メタ情報の標準フォーマットがない／横串で見る仕組みがない</a:t>
            </a:r>
          </a:p>
        </p:txBody>
      </p:sp>
      <p:sp>
        <p:nvSpPr>
          <p:cNvPr id="12" name="Rectangle 11"/>
          <p:cNvSpPr/>
          <p:nvPr/>
        </p:nvSpPr>
        <p:spPr>
          <a:xfrm>
            <a:off x="731520" y="4846320"/>
            <a:ext cx="1828800" cy="1234440"/>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46320"/>
            <a:ext cx="1828800" cy="1234440"/>
          </a:xfrm>
          <a:prstGeom prst="rect">
            <a:avLst/>
          </a:prstGeom>
          <a:noFill/>
        </p:spPr>
        <p:txBody>
          <a:bodyPr wrap="square" lIns="45720" rIns="45720" tIns="18288" bIns="18288" anchor="ctr">
            <a:spAutoFit/>
          </a:bodyPr>
          <a:lstStyle/>
          <a:p>
            <a:pPr algn="ctr"/>
            <a:r>
              <a:rPr sz="1400" b="1">
                <a:solidFill>
                  <a:srgbClr val="FFFFFF"/>
                </a:solidFill>
                <a:latin typeface="Yu Gothic UI"/>
              </a:rPr>
              <a:t>打ち手</a:t>
            </a:r>
          </a:p>
        </p:txBody>
      </p:sp>
      <p:sp>
        <p:nvSpPr>
          <p:cNvPr id="14" name="Rectangle 13"/>
          <p:cNvSpPr/>
          <p:nvPr/>
        </p:nvSpPr>
        <p:spPr>
          <a:xfrm>
            <a:off x="2560320" y="4846320"/>
            <a:ext cx="8869680" cy="1234440"/>
          </a:xfrm>
          <a:prstGeom prst="rect">
            <a:avLst/>
          </a:prstGeom>
          <a:solidFill>
            <a:srgbClr val="E6F8F7"/>
          </a:solidFill>
          <a:ln w="15240">
            <a:solidFill>
              <a:srgbClr val="0E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4846320"/>
            <a:ext cx="8138160" cy="1234440"/>
          </a:xfrm>
          <a:prstGeom prst="rect">
            <a:avLst/>
          </a:prstGeom>
          <a:noFill/>
        </p:spPr>
        <p:txBody>
          <a:bodyPr wrap="square" lIns="45720" rIns="45720" tIns="18288" bIns="18288" anchor="ctr">
            <a:spAutoFit/>
          </a:bodyPr>
          <a:lstStyle/>
          <a:p>
            <a:pPr algn="l"/>
            <a:r>
              <a:rPr sz="1200" b="1">
                <a:solidFill>
                  <a:srgbClr val="1A1A1A"/>
                </a:solidFill>
                <a:latin typeface="Yu Gothic UI"/>
              </a:rPr>
              <a:t>meta化 × パターン化 × 自動引当 の3層ループを構築し、個人の暗黙知を組織の形式知に変換する</a:t>
            </a:r>
          </a:p>
        </p:txBody>
      </p:sp>
      <p:sp>
        <p:nvSpPr>
          <p:cNvPr id="16" name="Rectangle 15"/>
          <p:cNvSpPr/>
          <p:nvPr/>
        </p:nvSpPr>
        <p:spPr>
          <a:xfrm>
            <a:off x="0" y="6473952"/>
            <a:ext cx="12191695" cy="384048"/>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473952"/>
            <a:ext cx="7315200" cy="384048"/>
          </a:xfrm>
          <a:prstGeom prst="rect">
            <a:avLst/>
          </a:prstGeom>
          <a:noFill/>
        </p:spPr>
        <p:txBody>
          <a:bodyPr wrap="square" lIns="45720" rIns="45720" tIns="18288" bIns="18288" anchor="ctr">
            <a:spAutoFit/>
          </a:bodyPr>
          <a:lstStyle/>
          <a:p>
            <a:pPr algn="l"/>
            <a:r>
              <a:rPr sz="900" b="0">
                <a:solidFill>
                  <a:srgbClr val="FFFFFF"/>
                </a:solidFill>
                <a:latin typeface="Yu Gothic UI"/>
              </a:rPr>
              <a:t>2026. KANDO Marketing. Professional Consulting Service</a:t>
            </a:r>
          </a:p>
        </p:txBody>
      </p:sp>
      <p:sp>
        <p:nvSpPr>
          <p:cNvPr id="18" name="TextBox 17"/>
          <p:cNvSpPr txBox="1"/>
          <p:nvPr/>
        </p:nvSpPr>
        <p:spPr>
          <a:xfrm>
            <a:off x="10362895" y="6473952"/>
            <a:ext cx="1371600" cy="384048"/>
          </a:xfrm>
          <a:prstGeom prst="rect">
            <a:avLst/>
          </a:prstGeom>
          <a:noFill/>
        </p:spPr>
        <p:txBody>
          <a:bodyPr wrap="square" lIns="45720" rIns="45720" tIns="18288" bIns="18288" anchor="ctr">
            <a:spAutoFit/>
          </a:bodyPr>
          <a:lstStyle/>
          <a:p>
            <a:pPr algn="r"/>
            <a:r>
              <a:rPr sz="900" b="0">
                <a:solidFill>
                  <a:srgbClr val="FFFFFF"/>
                </a:solidFill>
                <a:latin typeface="Yu Gothic UI"/>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972800" cy="548640"/>
          </a:xfrm>
          <a:prstGeom prst="rect">
            <a:avLst/>
          </a:prstGeom>
          <a:noFill/>
        </p:spPr>
        <p:txBody>
          <a:bodyPr wrap="square" lIns="45720" rIns="45720" tIns="18288" bIns="18288" anchor="t">
            <a:spAutoFit/>
          </a:bodyPr>
          <a:lstStyle/>
          <a:p>
            <a:pPr algn="l"/>
            <a:r>
              <a:rPr sz="2400" b="1">
                <a:solidFill>
                  <a:srgbClr val="0EBAB5"/>
                </a:solidFill>
                <a:latin typeface="Yu Gothic UI"/>
              </a:rPr>
              <a:t>フォルダ構成 Git版</a:t>
            </a:r>
          </a:p>
        </p:txBody>
      </p:sp>
      <p:sp>
        <p:nvSpPr>
          <p:cNvPr id="3" name="TextBox 2"/>
          <p:cNvSpPr txBox="1"/>
          <p:nvPr/>
        </p:nvSpPr>
        <p:spPr>
          <a:xfrm>
            <a:off x="731520" y="914400"/>
            <a:ext cx="10698480" cy="868680"/>
          </a:xfrm>
          <a:prstGeom prst="rect">
            <a:avLst/>
          </a:prstGeom>
          <a:noFill/>
        </p:spPr>
        <p:txBody>
          <a:bodyPr wrap="square" lIns="45720" rIns="45720" tIns="18288" bIns="18288" anchor="t">
            <a:spAutoFit/>
          </a:bodyPr>
          <a:lstStyle/>
          <a:p>
            <a:pPr algn="l"/>
            <a:r>
              <a:rPr sz="1100" b="0">
                <a:solidFill>
                  <a:srgbClr val="555555"/>
                </a:solidFill>
                <a:latin typeface="Yu Gothic UI"/>
              </a:rPr>
              <a:t>Git版の構成は1案件＝1ディレクトリの原則を貫き、必須ファイルを meta.yml と result.md の2つだけに絞る。これ以上のルールを設けない。proposalsで案件を蓄積し、patternsで横串の勝ち筋を管理、templatesに再利用パーツを集約する3層構造。シンプルさが継続の鍵となる。</a:t>
            </a:r>
          </a:p>
        </p:txBody>
      </p:sp>
      <p:sp>
        <p:nvSpPr>
          <p:cNvPr id="4" name="Rectangle 3"/>
          <p:cNvSpPr/>
          <p:nvPr/>
        </p:nvSpPr>
        <p:spPr>
          <a:xfrm>
            <a:off x="731520" y="2011680"/>
            <a:ext cx="10698480" cy="4206240"/>
          </a:xfrm>
          <a:prstGeom prst="rect">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2286000"/>
            <a:ext cx="6400800" cy="3657600"/>
          </a:xfrm>
          <a:prstGeom prst="roundRect">
            <a:avLst>
              <a:gd name="adj" fmla="val 8000"/>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80160" y="2514600"/>
            <a:ext cx="2194560" cy="329184"/>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2514600"/>
            <a:ext cx="2194560" cy="329184"/>
          </a:xfrm>
          <a:prstGeom prst="rect">
            <a:avLst/>
          </a:prstGeom>
          <a:noFill/>
        </p:spPr>
        <p:txBody>
          <a:bodyPr wrap="square" lIns="45720" rIns="45720" tIns="18288" bIns="18288" anchor="ctr">
            <a:spAutoFit/>
          </a:bodyPr>
          <a:lstStyle/>
          <a:p>
            <a:pPr algn="ctr"/>
            <a:r>
              <a:rPr sz="1200" b="1">
                <a:solidFill>
                  <a:srgbClr val="FFFFFF"/>
                </a:solidFill>
                <a:latin typeface="Yu Gothic UI"/>
              </a:rPr>
              <a:t>kando-proposals/</a:t>
            </a:r>
          </a:p>
        </p:txBody>
      </p:sp>
      <p:sp>
        <p:nvSpPr>
          <p:cNvPr id="8" name="Rectangle 7"/>
          <p:cNvSpPr/>
          <p:nvPr/>
        </p:nvSpPr>
        <p:spPr>
          <a:xfrm>
            <a:off x="1554480" y="2843784"/>
            <a:ext cx="18288" cy="301752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54480" y="3163824"/>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783080" y="3017520"/>
            <a:ext cx="1828800" cy="292608"/>
          </a:xfrm>
          <a:prstGeom prst="roundRect">
            <a:avLst>
              <a:gd name="adj" fmla="val 8000"/>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83080" y="3017520"/>
            <a:ext cx="1828800" cy="292608"/>
          </a:xfrm>
          <a:prstGeom prst="rect">
            <a:avLst/>
          </a:prstGeom>
          <a:noFill/>
        </p:spPr>
        <p:txBody>
          <a:bodyPr wrap="square" lIns="45720" rIns="45720" tIns="18288" bIns="18288" anchor="ctr">
            <a:spAutoFit/>
          </a:bodyPr>
          <a:lstStyle/>
          <a:p>
            <a:pPr algn="ctr"/>
            <a:r>
              <a:rPr sz="1100" b="1">
                <a:solidFill>
                  <a:srgbClr val="FFFFFF"/>
                </a:solidFill>
                <a:latin typeface="Yu Gothic UI"/>
              </a:rPr>
              <a:t>proposals/</a:t>
            </a:r>
          </a:p>
        </p:txBody>
      </p:sp>
      <p:sp>
        <p:nvSpPr>
          <p:cNvPr id="12" name="Rectangle 11"/>
          <p:cNvSpPr/>
          <p:nvPr/>
        </p:nvSpPr>
        <p:spPr>
          <a:xfrm>
            <a:off x="2057400" y="3310128"/>
            <a:ext cx="18288" cy="128016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57400" y="3566160"/>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286000" y="3429000"/>
            <a:ext cx="2194560" cy="274320"/>
          </a:xfrm>
          <a:prstGeom prst="roundRect">
            <a:avLst>
              <a:gd name="adj" fmla="val 8000"/>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86000" y="3429000"/>
            <a:ext cx="2194560" cy="274320"/>
          </a:xfrm>
          <a:prstGeom prst="rect">
            <a:avLst/>
          </a:prstGeom>
          <a:noFill/>
        </p:spPr>
        <p:txBody>
          <a:bodyPr wrap="square" lIns="45720" rIns="45720" tIns="18288" bIns="18288" anchor="ctr">
            <a:spAutoFit/>
          </a:bodyPr>
          <a:lstStyle/>
          <a:p>
            <a:pPr algn="ctr"/>
            <a:r>
              <a:rPr sz="1100" b="0">
                <a:solidFill>
                  <a:srgbClr val="1A1A1A"/>
                </a:solidFill>
                <a:latin typeface="Yu Gothic UI"/>
              </a:rPr>
              <a:t>2026-Q2_案件名/</a:t>
            </a:r>
          </a:p>
        </p:txBody>
      </p:sp>
      <p:sp>
        <p:nvSpPr>
          <p:cNvPr id="16" name="Rectangle 15"/>
          <p:cNvSpPr/>
          <p:nvPr/>
        </p:nvSpPr>
        <p:spPr>
          <a:xfrm>
            <a:off x="2560320" y="3703320"/>
            <a:ext cx="18288" cy="86868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0" y="3941064"/>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788920" y="3813048"/>
            <a:ext cx="2194560" cy="274320"/>
          </a:xfrm>
          <a:prstGeom prst="roundRect">
            <a:avLst>
              <a:gd name="adj" fmla="val 8000"/>
            </a:avLst>
          </a:prstGeom>
          <a:solidFill>
            <a:srgbClr val="FFFFFF"/>
          </a:solidFill>
          <a:ln w="19050">
            <a:solidFill>
              <a:srgbClr val="0E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0" y="3813048"/>
            <a:ext cx="1188720" cy="274320"/>
          </a:xfrm>
          <a:prstGeom prst="rect">
            <a:avLst/>
          </a:prstGeom>
          <a:noFill/>
        </p:spPr>
        <p:txBody>
          <a:bodyPr wrap="square" lIns="45720" rIns="45720" tIns="18288" bIns="18288" anchor="ctr">
            <a:spAutoFit/>
          </a:bodyPr>
          <a:lstStyle/>
          <a:p>
            <a:pPr algn="l"/>
            <a:r>
              <a:rPr sz="1100" b="1">
                <a:solidFill>
                  <a:srgbClr val="0EBAB5"/>
                </a:solidFill>
                <a:latin typeface="Yu Gothic UI"/>
              </a:rPr>
              <a:t>meta.yml</a:t>
            </a:r>
          </a:p>
        </p:txBody>
      </p:sp>
      <p:sp>
        <p:nvSpPr>
          <p:cNvPr id="20" name="TextBox 19"/>
          <p:cNvSpPr txBox="1"/>
          <p:nvPr/>
        </p:nvSpPr>
        <p:spPr>
          <a:xfrm>
            <a:off x="4114800" y="3813048"/>
            <a:ext cx="822960" cy="274320"/>
          </a:xfrm>
          <a:prstGeom prst="rect">
            <a:avLst/>
          </a:prstGeom>
          <a:noFill/>
        </p:spPr>
        <p:txBody>
          <a:bodyPr wrap="square" lIns="45720" rIns="45720" tIns="18288" bIns="18288" anchor="ctr">
            <a:spAutoFit/>
          </a:bodyPr>
          <a:lstStyle/>
          <a:p>
            <a:pPr algn="l"/>
            <a:r>
              <a:rPr sz="1000" b="0">
                <a:solidFill>
                  <a:srgbClr val="0EBAB5"/>
                </a:solidFill>
                <a:latin typeface="Yu Gothic UI"/>
              </a:rPr>
              <a:t>★必須</a:t>
            </a:r>
          </a:p>
        </p:txBody>
      </p:sp>
      <p:sp>
        <p:nvSpPr>
          <p:cNvPr id="21" name="Rectangle 20"/>
          <p:cNvSpPr/>
          <p:nvPr/>
        </p:nvSpPr>
        <p:spPr>
          <a:xfrm>
            <a:off x="2560320" y="4306824"/>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788920" y="4178808"/>
            <a:ext cx="2194560" cy="274320"/>
          </a:xfrm>
          <a:prstGeom prst="roundRect">
            <a:avLst>
              <a:gd name="adj" fmla="val 8000"/>
            </a:avLst>
          </a:prstGeom>
          <a:solidFill>
            <a:srgbClr val="FFFFFF"/>
          </a:solidFill>
          <a:ln w="19050">
            <a:solidFill>
              <a:srgbClr val="0E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0" y="4178808"/>
            <a:ext cx="1188720" cy="274320"/>
          </a:xfrm>
          <a:prstGeom prst="rect">
            <a:avLst/>
          </a:prstGeom>
          <a:noFill/>
        </p:spPr>
        <p:txBody>
          <a:bodyPr wrap="square" lIns="45720" rIns="45720" tIns="18288" bIns="18288" anchor="ctr">
            <a:spAutoFit/>
          </a:bodyPr>
          <a:lstStyle/>
          <a:p>
            <a:pPr algn="l"/>
            <a:r>
              <a:rPr sz="1100" b="1">
                <a:solidFill>
                  <a:srgbClr val="0EBAB5"/>
                </a:solidFill>
                <a:latin typeface="Yu Gothic UI"/>
              </a:rPr>
              <a:t>result.md</a:t>
            </a:r>
          </a:p>
        </p:txBody>
      </p:sp>
      <p:sp>
        <p:nvSpPr>
          <p:cNvPr id="24" name="TextBox 23"/>
          <p:cNvSpPr txBox="1"/>
          <p:nvPr/>
        </p:nvSpPr>
        <p:spPr>
          <a:xfrm>
            <a:off x="4114800" y="4178808"/>
            <a:ext cx="822960" cy="274320"/>
          </a:xfrm>
          <a:prstGeom prst="rect">
            <a:avLst/>
          </a:prstGeom>
          <a:noFill/>
        </p:spPr>
        <p:txBody>
          <a:bodyPr wrap="square" lIns="45720" rIns="45720" tIns="18288" bIns="18288" anchor="ctr">
            <a:spAutoFit/>
          </a:bodyPr>
          <a:lstStyle/>
          <a:p>
            <a:pPr algn="l"/>
            <a:r>
              <a:rPr sz="1000" b="0">
                <a:solidFill>
                  <a:srgbClr val="0EBAB5"/>
                </a:solidFill>
                <a:latin typeface="Yu Gothic UI"/>
              </a:rPr>
              <a:t>★必須</a:t>
            </a:r>
          </a:p>
        </p:txBody>
      </p:sp>
      <p:sp>
        <p:nvSpPr>
          <p:cNvPr id="25" name="Rectangle 24"/>
          <p:cNvSpPr/>
          <p:nvPr/>
        </p:nvSpPr>
        <p:spPr>
          <a:xfrm>
            <a:off x="2560320" y="4672584"/>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88920" y="4544568"/>
            <a:ext cx="2194560" cy="274320"/>
          </a:xfrm>
          <a:prstGeom prst="roundRect">
            <a:avLst>
              <a:gd name="adj" fmla="val 8000"/>
            </a:avLst>
          </a:prstGeom>
          <a:solidFill>
            <a:srgbClr val="E5E5E5"/>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0" y="4544568"/>
            <a:ext cx="1188720" cy="274320"/>
          </a:xfrm>
          <a:prstGeom prst="rect">
            <a:avLst/>
          </a:prstGeom>
          <a:noFill/>
        </p:spPr>
        <p:txBody>
          <a:bodyPr wrap="square" lIns="45720" rIns="45720" tIns="18288" bIns="18288" anchor="ctr">
            <a:spAutoFit/>
          </a:bodyPr>
          <a:lstStyle/>
          <a:p>
            <a:pPr algn="l"/>
            <a:r>
              <a:rPr sz="1100" b="0">
                <a:solidFill>
                  <a:srgbClr val="555555"/>
                </a:solidFill>
                <a:latin typeface="Yu Gothic UI"/>
              </a:rPr>
              <a:t>deck/</a:t>
            </a:r>
          </a:p>
        </p:txBody>
      </p:sp>
      <p:sp>
        <p:nvSpPr>
          <p:cNvPr id="28" name="TextBox 27"/>
          <p:cNvSpPr txBox="1"/>
          <p:nvPr/>
        </p:nvSpPr>
        <p:spPr>
          <a:xfrm>
            <a:off x="3931920" y="4544568"/>
            <a:ext cx="914400" cy="274320"/>
          </a:xfrm>
          <a:prstGeom prst="rect">
            <a:avLst/>
          </a:prstGeom>
          <a:noFill/>
        </p:spPr>
        <p:txBody>
          <a:bodyPr wrap="square" lIns="45720" rIns="45720" tIns="18288" bIns="18288" anchor="ctr">
            <a:spAutoFit/>
          </a:bodyPr>
          <a:lstStyle/>
          <a:p>
            <a:pPr algn="l"/>
            <a:r>
              <a:rPr sz="1000" b="0">
                <a:solidFill>
                  <a:srgbClr val="888888"/>
                </a:solidFill>
                <a:latin typeface="Yu Gothic UI"/>
              </a:rPr>
              <a:t>最終資料</a:t>
            </a:r>
          </a:p>
        </p:txBody>
      </p:sp>
      <p:sp>
        <p:nvSpPr>
          <p:cNvPr id="29" name="Rectangle 28"/>
          <p:cNvSpPr/>
          <p:nvPr/>
        </p:nvSpPr>
        <p:spPr>
          <a:xfrm>
            <a:off x="1554480" y="4992624"/>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783080" y="4846320"/>
            <a:ext cx="1828800" cy="292608"/>
          </a:xfrm>
          <a:prstGeom prst="roundRect">
            <a:avLst>
              <a:gd name="adj" fmla="val 8000"/>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783080" y="4846320"/>
            <a:ext cx="1828800" cy="292608"/>
          </a:xfrm>
          <a:prstGeom prst="rect">
            <a:avLst/>
          </a:prstGeom>
          <a:noFill/>
        </p:spPr>
        <p:txBody>
          <a:bodyPr wrap="square" lIns="45720" rIns="45720" tIns="18288" bIns="18288" anchor="ctr">
            <a:spAutoFit/>
          </a:bodyPr>
          <a:lstStyle/>
          <a:p>
            <a:pPr algn="ctr"/>
            <a:r>
              <a:rPr sz="1100" b="1">
                <a:solidFill>
                  <a:srgbClr val="FFFFFF"/>
                </a:solidFill>
                <a:latin typeface="Yu Gothic UI"/>
              </a:rPr>
              <a:t>patterns/</a:t>
            </a:r>
          </a:p>
        </p:txBody>
      </p:sp>
      <p:sp>
        <p:nvSpPr>
          <p:cNvPr id="32" name="TextBox 31"/>
          <p:cNvSpPr txBox="1"/>
          <p:nvPr/>
        </p:nvSpPr>
        <p:spPr>
          <a:xfrm>
            <a:off x="3749040" y="4846320"/>
            <a:ext cx="1371600" cy="292608"/>
          </a:xfrm>
          <a:prstGeom prst="rect">
            <a:avLst/>
          </a:prstGeom>
          <a:noFill/>
        </p:spPr>
        <p:txBody>
          <a:bodyPr wrap="square" lIns="45720" rIns="45720" tIns="18288" bIns="18288" anchor="ctr">
            <a:spAutoFit/>
          </a:bodyPr>
          <a:lstStyle/>
          <a:p>
            <a:pPr algn="l"/>
            <a:r>
              <a:rPr sz="1000" b="0">
                <a:solidFill>
                  <a:srgbClr val="555555"/>
                </a:solidFill>
                <a:latin typeface="Yu Gothic UI"/>
              </a:rPr>
              <a:t>勝ち筋台帳</a:t>
            </a:r>
          </a:p>
        </p:txBody>
      </p:sp>
      <p:sp>
        <p:nvSpPr>
          <p:cNvPr id="33" name="Rectangle 32"/>
          <p:cNvSpPr/>
          <p:nvPr/>
        </p:nvSpPr>
        <p:spPr>
          <a:xfrm>
            <a:off x="1554480" y="5404104"/>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783080" y="5257800"/>
            <a:ext cx="1828800" cy="292608"/>
          </a:xfrm>
          <a:prstGeom prst="roundRect">
            <a:avLst>
              <a:gd name="adj" fmla="val 8000"/>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83080" y="5257800"/>
            <a:ext cx="1828800" cy="292608"/>
          </a:xfrm>
          <a:prstGeom prst="rect">
            <a:avLst/>
          </a:prstGeom>
          <a:noFill/>
        </p:spPr>
        <p:txBody>
          <a:bodyPr wrap="square" lIns="45720" rIns="45720" tIns="18288" bIns="18288" anchor="ctr">
            <a:spAutoFit/>
          </a:bodyPr>
          <a:lstStyle/>
          <a:p>
            <a:pPr algn="ctr"/>
            <a:r>
              <a:rPr sz="1100" b="1">
                <a:solidFill>
                  <a:srgbClr val="FFFFFF"/>
                </a:solidFill>
                <a:latin typeface="Yu Gothic UI"/>
              </a:rPr>
              <a:t>templates/</a:t>
            </a:r>
          </a:p>
        </p:txBody>
      </p:sp>
      <p:sp>
        <p:nvSpPr>
          <p:cNvPr id="36" name="TextBox 35"/>
          <p:cNvSpPr txBox="1"/>
          <p:nvPr/>
        </p:nvSpPr>
        <p:spPr>
          <a:xfrm>
            <a:off x="3749040" y="5257800"/>
            <a:ext cx="1371600" cy="292608"/>
          </a:xfrm>
          <a:prstGeom prst="rect">
            <a:avLst/>
          </a:prstGeom>
          <a:noFill/>
        </p:spPr>
        <p:txBody>
          <a:bodyPr wrap="square" lIns="45720" rIns="45720" tIns="18288" bIns="18288" anchor="ctr">
            <a:spAutoFit/>
          </a:bodyPr>
          <a:lstStyle/>
          <a:p>
            <a:pPr algn="l"/>
            <a:r>
              <a:rPr sz="1000" b="0">
                <a:solidFill>
                  <a:srgbClr val="555555"/>
                </a:solidFill>
                <a:latin typeface="Yu Gothic UI"/>
              </a:rPr>
              <a:t>再利用パーツ</a:t>
            </a:r>
          </a:p>
        </p:txBody>
      </p:sp>
      <p:sp>
        <p:nvSpPr>
          <p:cNvPr id="37" name="TextBox 36"/>
          <p:cNvSpPr txBox="1"/>
          <p:nvPr/>
        </p:nvSpPr>
        <p:spPr>
          <a:xfrm>
            <a:off x="7680960" y="2377440"/>
            <a:ext cx="3200400" cy="365760"/>
          </a:xfrm>
          <a:prstGeom prst="rect">
            <a:avLst/>
          </a:prstGeom>
          <a:noFill/>
        </p:spPr>
        <p:txBody>
          <a:bodyPr wrap="square" lIns="45720" rIns="45720" tIns="18288" bIns="18288" anchor="t">
            <a:spAutoFit/>
          </a:bodyPr>
          <a:lstStyle/>
          <a:p>
            <a:pPr algn="l"/>
            <a:r>
              <a:rPr sz="1400" b="1">
                <a:solidFill>
                  <a:srgbClr val="1A1A1A"/>
                </a:solidFill>
                <a:latin typeface="Yu Gothic UI"/>
              </a:rPr>
              <a:t>運用の原則</a:t>
            </a:r>
          </a:p>
        </p:txBody>
      </p:sp>
      <p:sp>
        <p:nvSpPr>
          <p:cNvPr id="38" name="Rectangle 37"/>
          <p:cNvSpPr/>
          <p:nvPr/>
        </p:nvSpPr>
        <p:spPr>
          <a:xfrm>
            <a:off x="7680960" y="2743200"/>
            <a:ext cx="2743200" cy="27432"/>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0" y="3017520"/>
            <a:ext cx="365760" cy="365760"/>
          </a:xfrm>
          <a:prstGeom prst="rect">
            <a:avLst/>
          </a:prstGeom>
          <a:noFill/>
        </p:spPr>
        <p:txBody>
          <a:bodyPr wrap="square" lIns="45720" rIns="45720" tIns="18288" bIns="18288" anchor="ctr">
            <a:spAutoFit/>
          </a:bodyPr>
          <a:lstStyle/>
          <a:p>
            <a:pPr algn="l"/>
            <a:r>
              <a:rPr sz="1400" b="1">
                <a:solidFill>
                  <a:srgbClr val="0EBAB5"/>
                </a:solidFill>
                <a:latin typeface="Yu Gothic UI"/>
              </a:rPr>
              <a:t>①</a:t>
            </a:r>
          </a:p>
        </p:txBody>
      </p:sp>
      <p:sp>
        <p:nvSpPr>
          <p:cNvPr id="40" name="TextBox 39"/>
          <p:cNvSpPr txBox="1"/>
          <p:nvPr/>
        </p:nvSpPr>
        <p:spPr>
          <a:xfrm>
            <a:off x="8046720" y="3017520"/>
            <a:ext cx="2743200" cy="365760"/>
          </a:xfrm>
          <a:prstGeom prst="rect">
            <a:avLst/>
          </a:prstGeom>
          <a:noFill/>
        </p:spPr>
        <p:txBody>
          <a:bodyPr wrap="square" lIns="45720" rIns="45720" tIns="18288" bIns="18288" anchor="ctr">
            <a:spAutoFit/>
          </a:bodyPr>
          <a:lstStyle/>
          <a:p>
            <a:pPr algn="l"/>
            <a:r>
              <a:rPr sz="1100" b="0">
                <a:solidFill>
                  <a:srgbClr val="1A1A1A"/>
                </a:solidFill>
                <a:latin typeface="Yu Gothic UI"/>
              </a:rPr>
              <a:t>1案件 = 1ディレクトリ</a:t>
            </a:r>
          </a:p>
        </p:txBody>
      </p:sp>
      <p:sp>
        <p:nvSpPr>
          <p:cNvPr id="41" name="TextBox 40"/>
          <p:cNvSpPr txBox="1"/>
          <p:nvPr/>
        </p:nvSpPr>
        <p:spPr>
          <a:xfrm>
            <a:off x="7680960" y="3474720"/>
            <a:ext cx="365760" cy="365760"/>
          </a:xfrm>
          <a:prstGeom prst="rect">
            <a:avLst/>
          </a:prstGeom>
          <a:noFill/>
        </p:spPr>
        <p:txBody>
          <a:bodyPr wrap="square" lIns="45720" rIns="45720" tIns="18288" bIns="18288" anchor="ctr">
            <a:spAutoFit/>
          </a:bodyPr>
          <a:lstStyle/>
          <a:p>
            <a:pPr algn="l"/>
            <a:r>
              <a:rPr sz="1400" b="1">
                <a:solidFill>
                  <a:srgbClr val="0EBAB5"/>
                </a:solidFill>
                <a:latin typeface="Yu Gothic UI"/>
              </a:rPr>
              <a:t>②</a:t>
            </a:r>
          </a:p>
        </p:txBody>
      </p:sp>
      <p:sp>
        <p:nvSpPr>
          <p:cNvPr id="42" name="TextBox 41"/>
          <p:cNvSpPr txBox="1"/>
          <p:nvPr/>
        </p:nvSpPr>
        <p:spPr>
          <a:xfrm>
            <a:off x="8046720" y="3474720"/>
            <a:ext cx="2743200" cy="365760"/>
          </a:xfrm>
          <a:prstGeom prst="rect">
            <a:avLst/>
          </a:prstGeom>
          <a:noFill/>
        </p:spPr>
        <p:txBody>
          <a:bodyPr wrap="square" lIns="45720" rIns="45720" tIns="18288" bIns="18288" anchor="ctr">
            <a:spAutoFit/>
          </a:bodyPr>
          <a:lstStyle/>
          <a:p>
            <a:pPr algn="l"/>
            <a:r>
              <a:rPr sz="1100" b="0">
                <a:solidFill>
                  <a:srgbClr val="1A1A1A"/>
                </a:solidFill>
                <a:latin typeface="Yu Gothic UI"/>
              </a:rPr>
              <a:t>必須は2ファイルのみ</a:t>
            </a:r>
          </a:p>
        </p:txBody>
      </p:sp>
      <p:sp>
        <p:nvSpPr>
          <p:cNvPr id="43" name="TextBox 42"/>
          <p:cNvSpPr txBox="1"/>
          <p:nvPr/>
        </p:nvSpPr>
        <p:spPr>
          <a:xfrm>
            <a:off x="7680960" y="3931920"/>
            <a:ext cx="365760" cy="365760"/>
          </a:xfrm>
          <a:prstGeom prst="rect">
            <a:avLst/>
          </a:prstGeom>
          <a:noFill/>
        </p:spPr>
        <p:txBody>
          <a:bodyPr wrap="square" lIns="45720" rIns="45720" tIns="18288" bIns="18288" anchor="ctr">
            <a:spAutoFit/>
          </a:bodyPr>
          <a:lstStyle/>
          <a:p>
            <a:pPr algn="l"/>
            <a:r>
              <a:rPr sz="1400" b="1">
                <a:solidFill>
                  <a:srgbClr val="0EBAB5"/>
                </a:solidFill>
                <a:latin typeface="Yu Gothic UI"/>
              </a:rPr>
              <a:t>③</a:t>
            </a:r>
          </a:p>
        </p:txBody>
      </p:sp>
      <p:sp>
        <p:nvSpPr>
          <p:cNvPr id="44" name="TextBox 43"/>
          <p:cNvSpPr txBox="1"/>
          <p:nvPr/>
        </p:nvSpPr>
        <p:spPr>
          <a:xfrm>
            <a:off x="8046720" y="3931920"/>
            <a:ext cx="2743200" cy="365760"/>
          </a:xfrm>
          <a:prstGeom prst="rect">
            <a:avLst/>
          </a:prstGeom>
          <a:noFill/>
        </p:spPr>
        <p:txBody>
          <a:bodyPr wrap="square" lIns="45720" rIns="45720" tIns="18288" bIns="18288" anchor="ctr">
            <a:spAutoFit/>
          </a:bodyPr>
          <a:lstStyle/>
          <a:p>
            <a:pPr algn="l"/>
            <a:r>
              <a:rPr sz="1100" b="0">
                <a:solidFill>
                  <a:srgbClr val="1A1A1A"/>
                </a:solidFill>
                <a:latin typeface="Yu Gothic UI"/>
              </a:rPr>
              <a:t>PR運用で田代さんReview</a:t>
            </a:r>
          </a:p>
        </p:txBody>
      </p:sp>
      <p:sp>
        <p:nvSpPr>
          <p:cNvPr id="45" name="TextBox 44"/>
          <p:cNvSpPr txBox="1"/>
          <p:nvPr/>
        </p:nvSpPr>
        <p:spPr>
          <a:xfrm>
            <a:off x="7680960" y="4389120"/>
            <a:ext cx="365760" cy="365760"/>
          </a:xfrm>
          <a:prstGeom prst="rect">
            <a:avLst/>
          </a:prstGeom>
          <a:noFill/>
        </p:spPr>
        <p:txBody>
          <a:bodyPr wrap="square" lIns="45720" rIns="45720" tIns="18288" bIns="18288" anchor="ctr">
            <a:spAutoFit/>
          </a:bodyPr>
          <a:lstStyle/>
          <a:p>
            <a:pPr algn="l"/>
            <a:r>
              <a:rPr sz="1400" b="1">
                <a:solidFill>
                  <a:srgbClr val="0EBAB5"/>
                </a:solidFill>
                <a:latin typeface="Yu Gothic UI"/>
              </a:rPr>
              <a:t>④</a:t>
            </a:r>
          </a:p>
        </p:txBody>
      </p:sp>
      <p:sp>
        <p:nvSpPr>
          <p:cNvPr id="46" name="TextBox 45"/>
          <p:cNvSpPr txBox="1"/>
          <p:nvPr/>
        </p:nvSpPr>
        <p:spPr>
          <a:xfrm>
            <a:off x="8046720" y="4389120"/>
            <a:ext cx="2743200" cy="365760"/>
          </a:xfrm>
          <a:prstGeom prst="rect">
            <a:avLst/>
          </a:prstGeom>
          <a:noFill/>
        </p:spPr>
        <p:txBody>
          <a:bodyPr wrap="square" lIns="45720" rIns="45720" tIns="18288" bIns="18288" anchor="ctr">
            <a:spAutoFit/>
          </a:bodyPr>
          <a:lstStyle/>
          <a:p>
            <a:pPr algn="l"/>
            <a:r>
              <a:rPr sz="1100" b="0">
                <a:solidFill>
                  <a:srgbClr val="1A1A1A"/>
                </a:solidFill>
                <a:latin typeface="Yu Gothic UI"/>
              </a:rPr>
              <a:t>kando-skillsと同じ規律</a:t>
            </a:r>
          </a:p>
        </p:txBody>
      </p:sp>
      <p:sp>
        <p:nvSpPr>
          <p:cNvPr id="47" name="Rounded Rectangle 46"/>
          <p:cNvSpPr/>
          <p:nvPr/>
        </p:nvSpPr>
        <p:spPr>
          <a:xfrm>
            <a:off x="3017520" y="5715000"/>
            <a:ext cx="6126480" cy="365760"/>
          </a:xfrm>
          <a:prstGeom prst="roundRect">
            <a:avLst>
              <a:gd name="adj" fmla="val 8000"/>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17520" y="5715000"/>
            <a:ext cx="6126480" cy="365760"/>
          </a:xfrm>
          <a:prstGeom prst="rect">
            <a:avLst/>
          </a:prstGeom>
          <a:noFill/>
        </p:spPr>
        <p:txBody>
          <a:bodyPr wrap="square" lIns="45720" rIns="45720" tIns="18288" bIns="18288" anchor="ctr">
            <a:spAutoFit/>
          </a:bodyPr>
          <a:lstStyle/>
          <a:p>
            <a:pPr algn="ctr"/>
            <a:r>
              <a:rPr sz="1200" b="1">
                <a:solidFill>
                  <a:srgbClr val="0EBAB5"/>
                </a:solidFill>
                <a:latin typeface="Yu Gothic UI"/>
              </a:rPr>
              <a:t>→ 必須2ファイルだけのシンプル設計が、継続の鍵</a:t>
            </a:r>
          </a:p>
        </p:txBody>
      </p:sp>
      <p:sp>
        <p:nvSpPr>
          <p:cNvPr id="49" name="Rectangle 48"/>
          <p:cNvSpPr/>
          <p:nvPr/>
        </p:nvSpPr>
        <p:spPr>
          <a:xfrm>
            <a:off x="0" y="6473952"/>
            <a:ext cx="12191695" cy="384048"/>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6473952"/>
            <a:ext cx="7315200" cy="384048"/>
          </a:xfrm>
          <a:prstGeom prst="rect">
            <a:avLst/>
          </a:prstGeom>
          <a:noFill/>
        </p:spPr>
        <p:txBody>
          <a:bodyPr wrap="square" lIns="45720" rIns="45720" tIns="18288" bIns="18288" anchor="ctr">
            <a:spAutoFit/>
          </a:bodyPr>
          <a:lstStyle/>
          <a:p>
            <a:pPr algn="l"/>
            <a:r>
              <a:rPr sz="900" b="0">
                <a:solidFill>
                  <a:srgbClr val="FFFFFF"/>
                </a:solidFill>
                <a:latin typeface="Yu Gothic UI"/>
              </a:rPr>
              <a:t>2026. KANDO Marketing. Professional Consulting Service</a:t>
            </a:r>
          </a:p>
        </p:txBody>
      </p:sp>
      <p:sp>
        <p:nvSpPr>
          <p:cNvPr id="51" name="TextBox 50"/>
          <p:cNvSpPr txBox="1"/>
          <p:nvPr/>
        </p:nvSpPr>
        <p:spPr>
          <a:xfrm>
            <a:off x="10362895" y="6473952"/>
            <a:ext cx="1371600" cy="384048"/>
          </a:xfrm>
          <a:prstGeom prst="rect">
            <a:avLst/>
          </a:prstGeom>
          <a:noFill/>
        </p:spPr>
        <p:txBody>
          <a:bodyPr wrap="square" lIns="45720" rIns="45720" tIns="18288" bIns="18288" anchor="ctr">
            <a:spAutoFit/>
          </a:bodyPr>
          <a:lstStyle/>
          <a:p>
            <a:pPr algn="r"/>
            <a:r>
              <a:rPr sz="900" b="0">
                <a:solidFill>
                  <a:srgbClr val="FFFFFF"/>
                </a:solidFill>
                <a:latin typeface="Yu Gothic UI"/>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972800" cy="548640"/>
          </a:xfrm>
          <a:prstGeom prst="rect">
            <a:avLst/>
          </a:prstGeom>
          <a:noFill/>
        </p:spPr>
        <p:txBody>
          <a:bodyPr wrap="square" lIns="45720" rIns="45720" tIns="18288" bIns="18288" anchor="t">
            <a:spAutoFit/>
          </a:bodyPr>
          <a:lstStyle/>
          <a:p>
            <a:pPr algn="l"/>
            <a:r>
              <a:rPr sz="2400" b="1">
                <a:solidFill>
                  <a:srgbClr val="0EBAB5"/>
                </a:solidFill>
                <a:latin typeface="Yu Gothic UI"/>
              </a:rPr>
              <a:t>フォルダ構成 Drive版</a:t>
            </a:r>
          </a:p>
        </p:txBody>
      </p:sp>
      <p:sp>
        <p:nvSpPr>
          <p:cNvPr id="3" name="TextBox 2"/>
          <p:cNvSpPr txBox="1"/>
          <p:nvPr/>
        </p:nvSpPr>
        <p:spPr>
          <a:xfrm>
            <a:off x="731520" y="914400"/>
            <a:ext cx="10698480" cy="868680"/>
          </a:xfrm>
          <a:prstGeom prst="rect">
            <a:avLst/>
          </a:prstGeom>
          <a:noFill/>
        </p:spPr>
        <p:txBody>
          <a:bodyPr wrap="square" lIns="45720" rIns="45720" tIns="18288" bIns="18288" anchor="t">
            <a:spAutoFit/>
          </a:bodyPr>
          <a:lstStyle/>
          <a:p>
            <a:pPr algn="l"/>
            <a:r>
              <a:rPr sz="1100" b="0">
                <a:solidFill>
                  <a:srgbClr val="555555"/>
                </a:solidFill>
                <a:latin typeface="Yu Gothic UI"/>
              </a:rPr>
              <a:t>Drive版もGit版と同じ3層構造を踏襲するが、最大の違いは00_案件マスタ.gsheetを起点にすることである。各案件のmetaをスプレッドシート1枚に集約することで、Drive MCPからの横串分析が即座に可能となる。最終成果物のPPTXやPDFは案件フォルダ配下に配置し、Gitと同等の整理性を確保する。</a:t>
            </a:r>
          </a:p>
        </p:txBody>
      </p:sp>
      <p:sp>
        <p:nvSpPr>
          <p:cNvPr id="4" name="Rectangle 3"/>
          <p:cNvSpPr/>
          <p:nvPr/>
        </p:nvSpPr>
        <p:spPr>
          <a:xfrm>
            <a:off x="731520" y="2011680"/>
            <a:ext cx="10698480" cy="4206240"/>
          </a:xfrm>
          <a:prstGeom prst="rect">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2286000"/>
            <a:ext cx="6400800" cy="3657600"/>
          </a:xfrm>
          <a:prstGeom prst="roundRect">
            <a:avLst>
              <a:gd name="adj" fmla="val 8000"/>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80160" y="2514600"/>
            <a:ext cx="2468880" cy="329184"/>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2514600"/>
            <a:ext cx="2468880" cy="329184"/>
          </a:xfrm>
          <a:prstGeom prst="rect">
            <a:avLst/>
          </a:prstGeom>
          <a:noFill/>
        </p:spPr>
        <p:txBody>
          <a:bodyPr wrap="square" lIns="45720" rIns="45720" tIns="18288" bIns="18288" anchor="ctr">
            <a:spAutoFit/>
          </a:bodyPr>
          <a:lstStyle/>
          <a:p>
            <a:pPr algn="ctr"/>
            <a:r>
              <a:rPr sz="1200" b="1">
                <a:solidFill>
                  <a:srgbClr val="FFFFFF"/>
                </a:solidFill>
                <a:latin typeface="Yu Gothic UI"/>
              </a:rPr>
              <a:t>KANDO_提案ナレッジ/</a:t>
            </a:r>
          </a:p>
        </p:txBody>
      </p:sp>
      <p:sp>
        <p:nvSpPr>
          <p:cNvPr id="8" name="Rectangle 7"/>
          <p:cNvSpPr/>
          <p:nvPr/>
        </p:nvSpPr>
        <p:spPr>
          <a:xfrm>
            <a:off x="1554480" y="2843784"/>
            <a:ext cx="18288" cy="301752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54480" y="3172968"/>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783080" y="3017520"/>
            <a:ext cx="2743200" cy="329184"/>
          </a:xfrm>
          <a:prstGeom prst="roundRect">
            <a:avLst>
              <a:gd name="adj" fmla="val 8000"/>
            </a:avLst>
          </a:prstGeom>
          <a:solidFill>
            <a:srgbClr val="FFFFFF"/>
          </a:solidFill>
          <a:ln w="25400">
            <a:solidFill>
              <a:srgbClr val="0E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20240" y="3017520"/>
            <a:ext cx="1828800" cy="329184"/>
          </a:xfrm>
          <a:prstGeom prst="rect">
            <a:avLst/>
          </a:prstGeom>
          <a:noFill/>
        </p:spPr>
        <p:txBody>
          <a:bodyPr wrap="square" lIns="45720" rIns="45720" tIns="18288" bIns="18288" anchor="ctr">
            <a:spAutoFit/>
          </a:bodyPr>
          <a:lstStyle/>
          <a:p>
            <a:pPr algn="l"/>
            <a:r>
              <a:rPr sz="1100" b="1">
                <a:solidFill>
                  <a:srgbClr val="0EBAB5"/>
                </a:solidFill>
                <a:latin typeface="Yu Gothic UI"/>
              </a:rPr>
              <a:t>00_案件マスタ.gsheet</a:t>
            </a:r>
          </a:p>
        </p:txBody>
      </p:sp>
      <p:sp>
        <p:nvSpPr>
          <p:cNvPr id="12" name="TextBox 11"/>
          <p:cNvSpPr txBox="1"/>
          <p:nvPr/>
        </p:nvSpPr>
        <p:spPr>
          <a:xfrm>
            <a:off x="3749040" y="3017520"/>
            <a:ext cx="777240" cy="329184"/>
          </a:xfrm>
          <a:prstGeom prst="rect">
            <a:avLst/>
          </a:prstGeom>
          <a:noFill/>
        </p:spPr>
        <p:txBody>
          <a:bodyPr wrap="square" lIns="45720" rIns="45720" tIns="18288" bIns="18288" anchor="ctr">
            <a:spAutoFit/>
          </a:bodyPr>
          <a:lstStyle/>
          <a:p>
            <a:pPr algn="l"/>
            <a:r>
              <a:rPr sz="1000" b="0">
                <a:solidFill>
                  <a:srgbClr val="0EBAB5"/>
                </a:solidFill>
                <a:latin typeface="Yu Gothic UI"/>
              </a:rPr>
              <a:t>★起点</a:t>
            </a:r>
          </a:p>
        </p:txBody>
      </p:sp>
      <p:sp>
        <p:nvSpPr>
          <p:cNvPr id="13" name="Rectangle 12"/>
          <p:cNvSpPr/>
          <p:nvPr/>
        </p:nvSpPr>
        <p:spPr>
          <a:xfrm>
            <a:off x="1554480" y="3621024"/>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783080" y="3474720"/>
            <a:ext cx="2011680" cy="292608"/>
          </a:xfrm>
          <a:prstGeom prst="roundRect">
            <a:avLst>
              <a:gd name="adj" fmla="val 8000"/>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83080" y="3474720"/>
            <a:ext cx="2011680" cy="292608"/>
          </a:xfrm>
          <a:prstGeom prst="rect">
            <a:avLst/>
          </a:prstGeom>
          <a:noFill/>
        </p:spPr>
        <p:txBody>
          <a:bodyPr wrap="square" lIns="45720" rIns="45720" tIns="18288" bIns="18288" anchor="ctr">
            <a:spAutoFit/>
          </a:bodyPr>
          <a:lstStyle/>
          <a:p>
            <a:pPr algn="ctr"/>
            <a:r>
              <a:rPr sz="1100" b="1">
                <a:solidFill>
                  <a:srgbClr val="FFFFFF"/>
                </a:solidFill>
                <a:latin typeface="Yu Gothic UI"/>
              </a:rPr>
              <a:t>01_提案書/</a:t>
            </a:r>
          </a:p>
        </p:txBody>
      </p:sp>
      <p:sp>
        <p:nvSpPr>
          <p:cNvPr id="16" name="Rectangle 15"/>
          <p:cNvSpPr/>
          <p:nvPr/>
        </p:nvSpPr>
        <p:spPr>
          <a:xfrm>
            <a:off x="2057400" y="3767328"/>
            <a:ext cx="18288" cy="86868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57400" y="4023360"/>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286000" y="3886200"/>
            <a:ext cx="2194560" cy="274320"/>
          </a:xfrm>
          <a:prstGeom prst="roundRect">
            <a:avLst>
              <a:gd name="adj" fmla="val 8000"/>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6000" y="3886200"/>
            <a:ext cx="2194560" cy="274320"/>
          </a:xfrm>
          <a:prstGeom prst="rect">
            <a:avLst/>
          </a:prstGeom>
          <a:noFill/>
        </p:spPr>
        <p:txBody>
          <a:bodyPr wrap="square" lIns="45720" rIns="45720" tIns="18288" bIns="18288" anchor="ctr">
            <a:spAutoFit/>
          </a:bodyPr>
          <a:lstStyle/>
          <a:p>
            <a:pPr algn="ctr"/>
            <a:r>
              <a:rPr sz="1100" b="0">
                <a:solidFill>
                  <a:srgbClr val="1A1A1A"/>
                </a:solidFill>
                <a:latin typeface="Yu Gothic UI"/>
              </a:rPr>
              <a:t>2026-Q2_案件名/</a:t>
            </a:r>
          </a:p>
        </p:txBody>
      </p:sp>
      <p:sp>
        <p:nvSpPr>
          <p:cNvPr id="20" name="Rectangle 19"/>
          <p:cNvSpPr/>
          <p:nvPr/>
        </p:nvSpPr>
        <p:spPr>
          <a:xfrm>
            <a:off x="2560320" y="4160520"/>
            <a:ext cx="18288" cy="45720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60320" y="4398264"/>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788920" y="4270248"/>
            <a:ext cx="2194560" cy="274320"/>
          </a:xfrm>
          <a:prstGeom prst="roundRect">
            <a:avLst>
              <a:gd name="adj" fmla="val 8000"/>
            </a:avLst>
          </a:prstGeom>
          <a:solidFill>
            <a:srgbClr val="FFFFFF"/>
          </a:solidFill>
          <a:ln w="19050">
            <a:solidFill>
              <a:srgbClr val="0E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0" y="4270248"/>
            <a:ext cx="1188720" cy="274320"/>
          </a:xfrm>
          <a:prstGeom prst="rect">
            <a:avLst/>
          </a:prstGeom>
          <a:noFill/>
        </p:spPr>
        <p:txBody>
          <a:bodyPr wrap="square" lIns="45720" rIns="45720" tIns="18288" bIns="18288" anchor="ctr">
            <a:spAutoFit/>
          </a:bodyPr>
          <a:lstStyle/>
          <a:p>
            <a:pPr algn="l"/>
            <a:r>
              <a:rPr sz="1100" b="1">
                <a:solidFill>
                  <a:srgbClr val="0EBAB5"/>
                </a:solidFill>
                <a:latin typeface="Yu Gothic UI"/>
              </a:rPr>
              <a:t>result.gdoc</a:t>
            </a:r>
          </a:p>
        </p:txBody>
      </p:sp>
      <p:sp>
        <p:nvSpPr>
          <p:cNvPr id="24" name="TextBox 23"/>
          <p:cNvSpPr txBox="1"/>
          <p:nvPr/>
        </p:nvSpPr>
        <p:spPr>
          <a:xfrm>
            <a:off x="4114800" y="4270248"/>
            <a:ext cx="822960" cy="274320"/>
          </a:xfrm>
          <a:prstGeom prst="rect">
            <a:avLst/>
          </a:prstGeom>
          <a:noFill/>
        </p:spPr>
        <p:txBody>
          <a:bodyPr wrap="square" lIns="45720" rIns="45720" tIns="18288" bIns="18288" anchor="ctr">
            <a:spAutoFit/>
          </a:bodyPr>
          <a:lstStyle/>
          <a:p>
            <a:pPr algn="l"/>
            <a:r>
              <a:rPr sz="1000" b="0">
                <a:solidFill>
                  <a:srgbClr val="0EBAB5"/>
                </a:solidFill>
                <a:latin typeface="Yu Gothic UI"/>
              </a:rPr>
              <a:t>★必須</a:t>
            </a:r>
          </a:p>
        </p:txBody>
      </p:sp>
      <p:sp>
        <p:nvSpPr>
          <p:cNvPr id="25" name="Rectangle 24"/>
          <p:cNvSpPr/>
          <p:nvPr/>
        </p:nvSpPr>
        <p:spPr>
          <a:xfrm>
            <a:off x="2560320" y="4764024"/>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88920" y="4636008"/>
            <a:ext cx="2194560" cy="274320"/>
          </a:xfrm>
          <a:prstGeom prst="roundRect">
            <a:avLst>
              <a:gd name="adj" fmla="val 8000"/>
            </a:avLst>
          </a:prstGeom>
          <a:solidFill>
            <a:srgbClr val="E5E5E5"/>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0" y="4636008"/>
            <a:ext cx="1828800" cy="274320"/>
          </a:xfrm>
          <a:prstGeom prst="rect">
            <a:avLst/>
          </a:prstGeom>
          <a:noFill/>
        </p:spPr>
        <p:txBody>
          <a:bodyPr wrap="square" lIns="45720" rIns="45720" tIns="18288" bIns="18288" anchor="ctr">
            <a:spAutoFit/>
          </a:bodyPr>
          <a:lstStyle/>
          <a:p>
            <a:pPr algn="l"/>
            <a:r>
              <a:rPr sz="1100" b="0">
                <a:solidFill>
                  <a:srgbClr val="555555"/>
                </a:solidFill>
                <a:latin typeface="Yu Gothic UI"/>
              </a:rPr>
              <a:t>最終資料.pptx</a:t>
            </a:r>
          </a:p>
        </p:txBody>
      </p:sp>
      <p:sp>
        <p:nvSpPr>
          <p:cNvPr id="28" name="Rectangle 27"/>
          <p:cNvSpPr/>
          <p:nvPr/>
        </p:nvSpPr>
        <p:spPr>
          <a:xfrm>
            <a:off x="1554480" y="5038344"/>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783080" y="4892040"/>
            <a:ext cx="2194560" cy="292608"/>
          </a:xfrm>
          <a:prstGeom prst="roundRect">
            <a:avLst>
              <a:gd name="adj" fmla="val 8000"/>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783080" y="4892040"/>
            <a:ext cx="2194560" cy="292608"/>
          </a:xfrm>
          <a:prstGeom prst="rect">
            <a:avLst/>
          </a:prstGeom>
          <a:noFill/>
        </p:spPr>
        <p:txBody>
          <a:bodyPr wrap="square" lIns="45720" rIns="45720" tIns="18288" bIns="18288" anchor="ctr">
            <a:spAutoFit/>
          </a:bodyPr>
          <a:lstStyle/>
          <a:p>
            <a:pPr algn="ctr"/>
            <a:r>
              <a:rPr sz="1100" b="1">
                <a:solidFill>
                  <a:srgbClr val="FFFFFF"/>
                </a:solidFill>
                <a:latin typeface="Yu Gothic UI"/>
              </a:rPr>
              <a:t>02_勝ちパターン/</a:t>
            </a:r>
          </a:p>
        </p:txBody>
      </p:sp>
      <p:sp>
        <p:nvSpPr>
          <p:cNvPr id="31" name="Rectangle 30"/>
          <p:cNvSpPr/>
          <p:nvPr/>
        </p:nvSpPr>
        <p:spPr>
          <a:xfrm>
            <a:off x="1554480" y="5449824"/>
            <a:ext cx="228600" cy="18288"/>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783080" y="5303520"/>
            <a:ext cx="2194560" cy="292608"/>
          </a:xfrm>
          <a:prstGeom prst="roundRect">
            <a:avLst>
              <a:gd name="adj" fmla="val 8000"/>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783080" y="5303520"/>
            <a:ext cx="2194560" cy="292608"/>
          </a:xfrm>
          <a:prstGeom prst="rect">
            <a:avLst/>
          </a:prstGeom>
          <a:noFill/>
        </p:spPr>
        <p:txBody>
          <a:bodyPr wrap="square" lIns="45720" rIns="45720" tIns="18288" bIns="18288" anchor="ctr">
            <a:spAutoFit/>
          </a:bodyPr>
          <a:lstStyle/>
          <a:p>
            <a:pPr algn="ctr"/>
            <a:r>
              <a:rPr sz="1100" b="1">
                <a:solidFill>
                  <a:srgbClr val="FFFFFF"/>
                </a:solidFill>
                <a:latin typeface="Yu Gothic UI"/>
              </a:rPr>
              <a:t>03_テンプレート/</a:t>
            </a:r>
          </a:p>
        </p:txBody>
      </p:sp>
      <p:sp>
        <p:nvSpPr>
          <p:cNvPr id="34" name="TextBox 33"/>
          <p:cNvSpPr txBox="1"/>
          <p:nvPr/>
        </p:nvSpPr>
        <p:spPr>
          <a:xfrm>
            <a:off x="7680960" y="2377440"/>
            <a:ext cx="3200400" cy="365760"/>
          </a:xfrm>
          <a:prstGeom prst="rect">
            <a:avLst/>
          </a:prstGeom>
          <a:noFill/>
        </p:spPr>
        <p:txBody>
          <a:bodyPr wrap="square" lIns="45720" rIns="45720" tIns="18288" bIns="18288" anchor="t">
            <a:spAutoFit/>
          </a:bodyPr>
          <a:lstStyle/>
          <a:p>
            <a:pPr algn="l"/>
            <a:r>
              <a:rPr sz="1400" b="1">
                <a:solidFill>
                  <a:srgbClr val="1A1A1A"/>
                </a:solidFill>
                <a:latin typeface="Yu Gothic UI"/>
              </a:rPr>
              <a:t>Drive MCP連携</a:t>
            </a:r>
          </a:p>
        </p:txBody>
      </p:sp>
      <p:sp>
        <p:nvSpPr>
          <p:cNvPr id="35" name="Rectangle 34"/>
          <p:cNvSpPr/>
          <p:nvPr/>
        </p:nvSpPr>
        <p:spPr>
          <a:xfrm>
            <a:off x="7680960" y="2743200"/>
            <a:ext cx="2743200" cy="27432"/>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0" y="2926080"/>
            <a:ext cx="3200400" cy="640080"/>
          </a:xfrm>
          <a:prstGeom prst="rect">
            <a:avLst/>
          </a:prstGeom>
          <a:noFill/>
        </p:spPr>
        <p:txBody>
          <a:bodyPr wrap="square" lIns="45720" rIns="45720" tIns="18288" bIns="18288" anchor="t">
            <a:spAutoFit/>
          </a:bodyPr>
          <a:lstStyle/>
          <a:p>
            <a:pPr algn="l"/>
            <a:r>
              <a:rPr sz="1100" b="0">
                <a:solidFill>
                  <a:srgbClr val="1A1A1A"/>
                </a:solidFill>
                <a:latin typeface="Yu Gothic UI"/>
              </a:rPr>
              <a:t>案件マスタを読込→</a:t>
            </a:r>
          </a:p>
          <a:p>
            <a:pPr algn="l"/>
            <a:r>
              <a:rPr sz="1100" b="0">
                <a:solidFill>
                  <a:srgbClr val="1A1A1A"/>
                </a:solidFill>
                <a:latin typeface="Yu Gothic UI"/>
              </a:rPr>
              <a:t>Claudeが横串分析</a:t>
            </a:r>
          </a:p>
        </p:txBody>
      </p:sp>
      <p:sp>
        <p:nvSpPr>
          <p:cNvPr id="37" name="TextBox 36"/>
          <p:cNvSpPr txBox="1"/>
          <p:nvPr/>
        </p:nvSpPr>
        <p:spPr>
          <a:xfrm>
            <a:off x="7680960" y="3840480"/>
            <a:ext cx="365760" cy="365760"/>
          </a:xfrm>
          <a:prstGeom prst="rect">
            <a:avLst/>
          </a:prstGeom>
          <a:noFill/>
        </p:spPr>
        <p:txBody>
          <a:bodyPr wrap="square" lIns="45720" rIns="45720" tIns="18288" bIns="18288" anchor="ctr">
            <a:spAutoFit/>
          </a:bodyPr>
          <a:lstStyle/>
          <a:p>
            <a:pPr algn="l"/>
            <a:r>
              <a:rPr sz="1400" b="1">
                <a:solidFill>
                  <a:srgbClr val="0EBAB5"/>
                </a:solidFill>
                <a:latin typeface="Yu Gothic UI"/>
              </a:rPr>
              <a:t>①</a:t>
            </a:r>
          </a:p>
        </p:txBody>
      </p:sp>
      <p:sp>
        <p:nvSpPr>
          <p:cNvPr id="38" name="TextBox 37"/>
          <p:cNvSpPr txBox="1"/>
          <p:nvPr/>
        </p:nvSpPr>
        <p:spPr>
          <a:xfrm>
            <a:off x="8046720" y="3840480"/>
            <a:ext cx="2743200" cy="365760"/>
          </a:xfrm>
          <a:prstGeom prst="rect">
            <a:avLst/>
          </a:prstGeom>
          <a:noFill/>
        </p:spPr>
        <p:txBody>
          <a:bodyPr wrap="square" lIns="45720" rIns="45720" tIns="18288" bIns="18288" anchor="ctr">
            <a:spAutoFit/>
          </a:bodyPr>
          <a:lstStyle/>
          <a:p>
            <a:pPr algn="l"/>
            <a:r>
              <a:rPr sz="1100" b="0">
                <a:solidFill>
                  <a:srgbClr val="1A1A1A"/>
                </a:solidFill>
                <a:latin typeface="Yu Gothic UI"/>
              </a:rPr>
              <a:t>スプレッドシート1枚で集約</a:t>
            </a:r>
          </a:p>
        </p:txBody>
      </p:sp>
      <p:sp>
        <p:nvSpPr>
          <p:cNvPr id="39" name="TextBox 38"/>
          <p:cNvSpPr txBox="1"/>
          <p:nvPr/>
        </p:nvSpPr>
        <p:spPr>
          <a:xfrm>
            <a:off x="7680960" y="4251960"/>
            <a:ext cx="365760" cy="365760"/>
          </a:xfrm>
          <a:prstGeom prst="rect">
            <a:avLst/>
          </a:prstGeom>
          <a:noFill/>
        </p:spPr>
        <p:txBody>
          <a:bodyPr wrap="square" lIns="45720" rIns="45720" tIns="18288" bIns="18288" anchor="ctr">
            <a:spAutoFit/>
          </a:bodyPr>
          <a:lstStyle/>
          <a:p>
            <a:pPr algn="l"/>
            <a:r>
              <a:rPr sz="1400" b="1">
                <a:solidFill>
                  <a:srgbClr val="0EBAB5"/>
                </a:solidFill>
                <a:latin typeface="Yu Gothic UI"/>
              </a:rPr>
              <a:t>②</a:t>
            </a:r>
          </a:p>
        </p:txBody>
      </p:sp>
      <p:sp>
        <p:nvSpPr>
          <p:cNvPr id="40" name="TextBox 39"/>
          <p:cNvSpPr txBox="1"/>
          <p:nvPr/>
        </p:nvSpPr>
        <p:spPr>
          <a:xfrm>
            <a:off x="8046720" y="4251960"/>
            <a:ext cx="2743200" cy="365760"/>
          </a:xfrm>
          <a:prstGeom prst="rect">
            <a:avLst/>
          </a:prstGeom>
          <a:noFill/>
        </p:spPr>
        <p:txBody>
          <a:bodyPr wrap="square" lIns="45720" rIns="45720" tIns="18288" bIns="18288" anchor="ctr">
            <a:spAutoFit/>
          </a:bodyPr>
          <a:lstStyle/>
          <a:p>
            <a:pPr algn="l"/>
            <a:r>
              <a:rPr sz="1100" b="0">
                <a:solidFill>
                  <a:srgbClr val="1A1A1A"/>
                </a:solidFill>
                <a:latin typeface="Yu Gothic UI"/>
              </a:rPr>
              <a:t>非エンジニアも編集可能</a:t>
            </a:r>
          </a:p>
        </p:txBody>
      </p:sp>
      <p:sp>
        <p:nvSpPr>
          <p:cNvPr id="41" name="TextBox 40"/>
          <p:cNvSpPr txBox="1"/>
          <p:nvPr/>
        </p:nvSpPr>
        <p:spPr>
          <a:xfrm>
            <a:off x="7680960" y="4663440"/>
            <a:ext cx="365760" cy="365760"/>
          </a:xfrm>
          <a:prstGeom prst="rect">
            <a:avLst/>
          </a:prstGeom>
          <a:noFill/>
        </p:spPr>
        <p:txBody>
          <a:bodyPr wrap="square" lIns="45720" rIns="45720" tIns="18288" bIns="18288" anchor="ctr">
            <a:spAutoFit/>
          </a:bodyPr>
          <a:lstStyle/>
          <a:p>
            <a:pPr algn="l"/>
            <a:r>
              <a:rPr sz="1400" b="1">
                <a:solidFill>
                  <a:srgbClr val="0EBAB5"/>
                </a:solidFill>
                <a:latin typeface="Yu Gothic UI"/>
              </a:rPr>
              <a:t>③</a:t>
            </a:r>
          </a:p>
        </p:txBody>
      </p:sp>
      <p:sp>
        <p:nvSpPr>
          <p:cNvPr id="42" name="TextBox 41"/>
          <p:cNvSpPr txBox="1"/>
          <p:nvPr/>
        </p:nvSpPr>
        <p:spPr>
          <a:xfrm>
            <a:off x="8046720" y="4663440"/>
            <a:ext cx="2743200" cy="365760"/>
          </a:xfrm>
          <a:prstGeom prst="rect">
            <a:avLst/>
          </a:prstGeom>
          <a:noFill/>
        </p:spPr>
        <p:txBody>
          <a:bodyPr wrap="square" lIns="45720" rIns="45720" tIns="18288" bIns="18288" anchor="ctr">
            <a:spAutoFit/>
          </a:bodyPr>
          <a:lstStyle/>
          <a:p>
            <a:pPr algn="l"/>
            <a:r>
              <a:rPr sz="1100" b="0">
                <a:solidFill>
                  <a:srgbClr val="1A1A1A"/>
                </a:solidFill>
                <a:latin typeface="Yu Gothic UI"/>
              </a:rPr>
              <a:t>PPTX/PDF管理に強い</a:t>
            </a:r>
          </a:p>
        </p:txBody>
      </p:sp>
      <p:sp>
        <p:nvSpPr>
          <p:cNvPr id="43" name="TextBox 42"/>
          <p:cNvSpPr txBox="1"/>
          <p:nvPr/>
        </p:nvSpPr>
        <p:spPr>
          <a:xfrm>
            <a:off x="7680960" y="5074920"/>
            <a:ext cx="365760" cy="365760"/>
          </a:xfrm>
          <a:prstGeom prst="rect">
            <a:avLst/>
          </a:prstGeom>
          <a:noFill/>
        </p:spPr>
        <p:txBody>
          <a:bodyPr wrap="square" lIns="45720" rIns="45720" tIns="18288" bIns="18288" anchor="ctr">
            <a:spAutoFit/>
          </a:bodyPr>
          <a:lstStyle/>
          <a:p>
            <a:pPr algn="l"/>
            <a:r>
              <a:rPr sz="1400" b="1">
                <a:solidFill>
                  <a:srgbClr val="0EBAB5"/>
                </a:solidFill>
                <a:latin typeface="Yu Gothic UI"/>
              </a:rPr>
              <a:t>④</a:t>
            </a:r>
          </a:p>
        </p:txBody>
      </p:sp>
      <p:sp>
        <p:nvSpPr>
          <p:cNvPr id="44" name="TextBox 43"/>
          <p:cNvSpPr txBox="1"/>
          <p:nvPr/>
        </p:nvSpPr>
        <p:spPr>
          <a:xfrm>
            <a:off x="8046720" y="5074920"/>
            <a:ext cx="2743200" cy="365760"/>
          </a:xfrm>
          <a:prstGeom prst="rect">
            <a:avLst/>
          </a:prstGeom>
          <a:noFill/>
        </p:spPr>
        <p:txBody>
          <a:bodyPr wrap="square" lIns="45720" rIns="45720" tIns="18288" bIns="18288" anchor="ctr">
            <a:spAutoFit/>
          </a:bodyPr>
          <a:lstStyle/>
          <a:p>
            <a:pPr algn="l"/>
            <a:r>
              <a:rPr sz="1100" b="0">
                <a:solidFill>
                  <a:srgbClr val="1A1A1A"/>
                </a:solidFill>
                <a:latin typeface="Yu Gothic UI"/>
              </a:rPr>
              <a:t>フォルダ共有で協働容易</a:t>
            </a:r>
          </a:p>
        </p:txBody>
      </p:sp>
      <p:sp>
        <p:nvSpPr>
          <p:cNvPr id="45" name="Rounded Rectangle 44"/>
          <p:cNvSpPr/>
          <p:nvPr/>
        </p:nvSpPr>
        <p:spPr>
          <a:xfrm>
            <a:off x="3017520" y="5715000"/>
            <a:ext cx="6126480" cy="365760"/>
          </a:xfrm>
          <a:prstGeom prst="roundRect">
            <a:avLst>
              <a:gd name="adj" fmla="val 8000"/>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017520" y="5715000"/>
            <a:ext cx="6126480" cy="365760"/>
          </a:xfrm>
          <a:prstGeom prst="rect">
            <a:avLst/>
          </a:prstGeom>
          <a:noFill/>
        </p:spPr>
        <p:txBody>
          <a:bodyPr wrap="square" lIns="45720" rIns="45720" tIns="18288" bIns="18288" anchor="ctr">
            <a:spAutoFit/>
          </a:bodyPr>
          <a:lstStyle/>
          <a:p>
            <a:pPr algn="ctr"/>
            <a:r>
              <a:rPr sz="1200" b="1">
                <a:solidFill>
                  <a:srgbClr val="0EBAB5"/>
                </a:solidFill>
                <a:latin typeface="Yu Gothic UI"/>
              </a:rPr>
              <a:t>→ 案件マスタ.gsheetが横串分析の起点になる</a:t>
            </a:r>
          </a:p>
        </p:txBody>
      </p:sp>
      <p:sp>
        <p:nvSpPr>
          <p:cNvPr id="47" name="Rectangle 46"/>
          <p:cNvSpPr/>
          <p:nvPr/>
        </p:nvSpPr>
        <p:spPr>
          <a:xfrm>
            <a:off x="0" y="6473952"/>
            <a:ext cx="12191695" cy="384048"/>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6473952"/>
            <a:ext cx="7315200" cy="384048"/>
          </a:xfrm>
          <a:prstGeom prst="rect">
            <a:avLst/>
          </a:prstGeom>
          <a:noFill/>
        </p:spPr>
        <p:txBody>
          <a:bodyPr wrap="square" lIns="45720" rIns="45720" tIns="18288" bIns="18288" anchor="ctr">
            <a:spAutoFit/>
          </a:bodyPr>
          <a:lstStyle/>
          <a:p>
            <a:pPr algn="l"/>
            <a:r>
              <a:rPr sz="900" b="0">
                <a:solidFill>
                  <a:srgbClr val="FFFFFF"/>
                </a:solidFill>
                <a:latin typeface="Yu Gothic UI"/>
              </a:rPr>
              <a:t>2026. KANDO Marketing. Professional Consulting Service</a:t>
            </a:r>
          </a:p>
        </p:txBody>
      </p:sp>
      <p:sp>
        <p:nvSpPr>
          <p:cNvPr id="49" name="TextBox 48"/>
          <p:cNvSpPr txBox="1"/>
          <p:nvPr/>
        </p:nvSpPr>
        <p:spPr>
          <a:xfrm>
            <a:off x="10362895" y="6473952"/>
            <a:ext cx="1371600" cy="384048"/>
          </a:xfrm>
          <a:prstGeom prst="rect">
            <a:avLst/>
          </a:prstGeom>
          <a:noFill/>
        </p:spPr>
        <p:txBody>
          <a:bodyPr wrap="square" lIns="45720" rIns="45720" tIns="18288" bIns="18288" anchor="ctr">
            <a:spAutoFit/>
          </a:bodyPr>
          <a:lstStyle/>
          <a:p>
            <a:pPr algn="r"/>
            <a:r>
              <a:rPr sz="900" b="0">
                <a:solidFill>
                  <a:srgbClr val="FFFFFF"/>
                </a:solidFill>
                <a:latin typeface="Yu Gothic UI"/>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972800" cy="548640"/>
          </a:xfrm>
          <a:prstGeom prst="rect">
            <a:avLst/>
          </a:prstGeom>
          <a:noFill/>
        </p:spPr>
        <p:txBody>
          <a:bodyPr wrap="square" lIns="45720" rIns="45720" tIns="18288" bIns="18288" anchor="t">
            <a:spAutoFit/>
          </a:bodyPr>
          <a:lstStyle/>
          <a:p>
            <a:pPr algn="l"/>
            <a:r>
              <a:rPr sz="2400" b="1">
                <a:solidFill>
                  <a:srgbClr val="0EBAB5"/>
                </a:solidFill>
                <a:latin typeface="Yu Gothic UI"/>
              </a:rPr>
              <a:t>提案時の運用(5分)</a:t>
            </a:r>
          </a:p>
        </p:txBody>
      </p:sp>
      <p:sp>
        <p:nvSpPr>
          <p:cNvPr id="3" name="TextBox 2"/>
          <p:cNvSpPr txBox="1"/>
          <p:nvPr/>
        </p:nvSpPr>
        <p:spPr>
          <a:xfrm>
            <a:off x="731520" y="914400"/>
            <a:ext cx="10698480" cy="868680"/>
          </a:xfrm>
          <a:prstGeom prst="rect">
            <a:avLst/>
          </a:prstGeom>
          <a:noFill/>
        </p:spPr>
        <p:txBody>
          <a:bodyPr wrap="square" lIns="45720" rIns="45720" tIns="18288" bIns="18288" anchor="t">
            <a:spAutoFit/>
          </a:bodyPr>
          <a:lstStyle/>
          <a:p>
            <a:pPr algn="l"/>
            <a:r>
              <a:rPr sz="1100" b="0">
                <a:solidFill>
                  <a:srgbClr val="555555"/>
                </a:solidFill>
                <a:latin typeface="Yu Gothic UI"/>
              </a:rPr>
              <a:t>提案完了の瞬間に5分だけ手を動かすことが、学習ループの土台を作る最重要動作である。テンプレから案件フォルダを複製し、meta.ymlに基本情報を記入、最終提案書を所定位置に格納する。たった3アクションだが、これを徹底するか否かでナレッジ資産の質が決定的に変わる。完璧を狙わず、必ず提案当日中に完了させる。</a:t>
            </a:r>
          </a:p>
        </p:txBody>
      </p:sp>
      <p:sp>
        <p:nvSpPr>
          <p:cNvPr id="4" name="Rectangle 3"/>
          <p:cNvSpPr/>
          <p:nvPr/>
        </p:nvSpPr>
        <p:spPr>
          <a:xfrm>
            <a:off x="731520" y="2103120"/>
            <a:ext cx="1097280" cy="128016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03120"/>
            <a:ext cx="1097280" cy="1280160"/>
          </a:xfrm>
          <a:prstGeom prst="rect">
            <a:avLst/>
          </a:prstGeom>
          <a:noFill/>
        </p:spPr>
        <p:txBody>
          <a:bodyPr wrap="square" lIns="45720" rIns="45720" tIns="18288" bIns="18288" anchor="ctr">
            <a:spAutoFit/>
          </a:bodyPr>
          <a:lstStyle/>
          <a:p>
            <a:pPr algn="ctr"/>
            <a:r>
              <a:rPr sz="2000" b="1">
                <a:solidFill>
                  <a:srgbClr val="FFFFFF"/>
                </a:solidFill>
                <a:latin typeface="Yu Gothic UI"/>
              </a:rPr>
              <a:t>01</a:t>
            </a:r>
          </a:p>
        </p:txBody>
      </p:sp>
      <p:sp>
        <p:nvSpPr>
          <p:cNvPr id="6" name="Rectangle 5"/>
          <p:cNvSpPr/>
          <p:nvPr/>
        </p:nvSpPr>
        <p:spPr>
          <a:xfrm>
            <a:off x="1828800" y="2103120"/>
            <a:ext cx="7772400" cy="1280160"/>
          </a:xfrm>
          <a:prstGeom prst="rect">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03120" y="2240280"/>
            <a:ext cx="7223760" cy="365760"/>
          </a:xfrm>
          <a:prstGeom prst="rect">
            <a:avLst/>
          </a:prstGeom>
          <a:noFill/>
        </p:spPr>
        <p:txBody>
          <a:bodyPr wrap="square" lIns="45720" rIns="45720" tIns="18288" bIns="18288" anchor="t">
            <a:spAutoFit/>
          </a:bodyPr>
          <a:lstStyle/>
          <a:p>
            <a:pPr algn="l"/>
            <a:r>
              <a:rPr sz="1300" b="1">
                <a:solidFill>
                  <a:srgbClr val="1A1A1A"/>
                </a:solidFill>
                <a:latin typeface="Yu Gothic UI"/>
              </a:rPr>
              <a:t>案件フォルダを作成する</a:t>
            </a:r>
          </a:p>
        </p:txBody>
      </p:sp>
      <p:sp>
        <p:nvSpPr>
          <p:cNvPr id="8" name="TextBox 7"/>
          <p:cNvSpPr txBox="1"/>
          <p:nvPr/>
        </p:nvSpPr>
        <p:spPr>
          <a:xfrm>
            <a:off x="2103120" y="2651760"/>
            <a:ext cx="7223760" cy="640080"/>
          </a:xfrm>
          <a:prstGeom prst="rect">
            <a:avLst/>
          </a:prstGeom>
          <a:noFill/>
        </p:spPr>
        <p:txBody>
          <a:bodyPr wrap="square" lIns="45720" rIns="45720" tIns="18288" bIns="18288" anchor="t">
            <a:spAutoFit/>
          </a:bodyPr>
          <a:lstStyle/>
          <a:p>
            <a:pPr algn="l"/>
            <a:r>
              <a:rPr sz="1000" b="0">
                <a:solidFill>
                  <a:srgbClr val="1A1A1A"/>
                </a:solidFill>
                <a:latin typeface="Yu Gothic UI"/>
              </a:rPr>
              <a:t>_template/ または KANDO_提案ナレッジ/_template から案件名でコピー。命名規則は YYYY-QX_クライアント名で統一</a:t>
            </a:r>
          </a:p>
        </p:txBody>
      </p:sp>
      <p:sp>
        <p:nvSpPr>
          <p:cNvPr id="9" name="Rectangle 8"/>
          <p:cNvSpPr/>
          <p:nvPr/>
        </p:nvSpPr>
        <p:spPr>
          <a:xfrm>
            <a:off x="9601200" y="2103120"/>
            <a:ext cx="1828800" cy="12801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2103120"/>
            <a:ext cx="1828800" cy="1280160"/>
          </a:xfrm>
          <a:prstGeom prst="rect">
            <a:avLst/>
          </a:prstGeom>
          <a:noFill/>
        </p:spPr>
        <p:txBody>
          <a:bodyPr wrap="square" lIns="45720" rIns="45720" tIns="18288" bIns="18288" anchor="ctr">
            <a:spAutoFit/>
          </a:bodyPr>
          <a:lstStyle/>
          <a:p>
            <a:pPr algn="ctr"/>
            <a:r>
              <a:rPr sz="1000" b="0">
                <a:solidFill>
                  <a:srgbClr val="555555"/>
                </a:solidFill>
                <a:latin typeface="Yu Gothic UI"/>
              </a:rPr>
              <a:t>あきら</a:t>
            </a:r>
          </a:p>
          <a:p>
            <a:pPr algn="ctr"/>
            <a:r>
              <a:rPr sz="1000" b="0">
                <a:solidFill>
                  <a:srgbClr val="555555"/>
                </a:solidFill>
                <a:latin typeface="Yu Gothic UI"/>
              </a:rPr>
              <a:t>提案当日</a:t>
            </a:r>
          </a:p>
        </p:txBody>
      </p:sp>
      <p:sp>
        <p:nvSpPr>
          <p:cNvPr id="11" name="Rectangle 10"/>
          <p:cNvSpPr/>
          <p:nvPr/>
        </p:nvSpPr>
        <p:spPr>
          <a:xfrm>
            <a:off x="731520" y="3520440"/>
            <a:ext cx="1097280" cy="128016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20440"/>
            <a:ext cx="1097280" cy="1280160"/>
          </a:xfrm>
          <a:prstGeom prst="rect">
            <a:avLst/>
          </a:prstGeom>
          <a:noFill/>
        </p:spPr>
        <p:txBody>
          <a:bodyPr wrap="square" lIns="45720" rIns="45720" tIns="18288" bIns="18288" anchor="ctr">
            <a:spAutoFit/>
          </a:bodyPr>
          <a:lstStyle/>
          <a:p>
            <a:pPr algn="ctr"/>
            <a:r>
              <a:rPr sz="2000" b="1">
                <a:solidFill>
                  <a:srgbClr val="FFFFFF"/>
                </a:solidFill>
                <a:latin typeface="Yu Gothic UI"/>
              </a:rPr>
              <a:t>02</a:t>
            </a:r>
          </a:p>
        </p:txBody>
      </p:sp>
      <p:sp>
        <p:nvSpPr>
          <p:cNvPr id="13" name="Rectangle 12"/>
          <p:cNvSpPr/>
          <p:nvPr/>
        </p:nvSpPr>
        <p:spPr>
          <a:xfrm>
            <a:off x="1828800" y="3520440"/>
            <a:ext cx="7772400" cy="1280160"/>
          </a:xfrm>
          <a:prstGeom prst="rect">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3657600"/>
            <a:ext cx="7223760" cy="365760"/>
          </a:xfrm>
          <a:prstGeom prst="rect">
            <a:avLst/>
          </a:prstGeom>
          <a:noFill/>
        </p:spPr>
        <p:txBody>
          <a:bodyPr wrap="square" lIns="45720" rIns="45720" tIns="18288" bIns="18288" anchor="t">
            <a:spAutoFit/>
          </a:bodyPr>
          <a:lstStyle/>
          <a:p>
            <a:pPr algn="l"/>
            <a:r>
              <a:rPr sz="1300" b="1">
                <a:solidFill>
                  <a:srgbClr val="1A1A1A"/>
                </a:solidFill>
                <a:latin typeface="Yu Gothic UI"/>
              </a:rPr>
              <a:t>meta.yml に基本情報を記入する</a:t>
            </a:r>
          </a:p>
        </p:txBody>
      </p:sp>
      <p:sp>
        <p:nvSpPr>
          <p:cNvPr id="15" name="TextBox 14"/>
          <p:cNvSpPr txBox="1"/>
          <p:nvPr/>
        </p:nvSpPr>
        <p:spPr>
          <a:xfrm>
            <a:off x="2103120" y="4069080"/>
            <a:ext cx="7223760" cy="640080"/>
          </a:xfrm>
          <a:prstGeom prst="rect">
            <a:avLst/>
          </a:prstGeom>
          <a:noFill/>
        </p:spPr>
        <p:txBody>
          <a:bodyPr wrap="square" lIns="45720" rIns="45720" tIns="18288" bIns="18288" anchor="t">
            <a:spAutoFit/>
          </a:bodyPr>
          <a:lstStyle/>
          <a:p>
            <a:pPr algn="l"/>
            <a:r>
              <a:rPr sz="1000" b="0">
                <a:solidFill>
                  <a:srgbClr val="1A1A1A"/>
                </a:solidFill>
                <a:latin typeface="Yu Gothic UI"/>
              </a:rPr>
              <a:t>クライアント名／業界／BM型／予算／フェーズ／使用Skillsを記入。不明項目は空文字でOK、後から埋める</a:t>
            </a:r>
          </a:p>
        </p:txBody>
      </p:sp>
      <p:sp>
        <p:nvSpPr>
          <p:cNvPr id="16" name="Rectangle 15"/>
          <p:cNvSpPr/>
          <p:nvPr/>
        </p:nvSpPr>
        <p:spPr>
          <a:xfrm>
            <a:off x="9601200" y="3520440"/>
            <a:ext cx="1828800" cy="12801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3520440"/>
            <a:ext cx="1828800" cy="1280160"/>
          </a:xfrm>
          <a:prstGeom prst="rect">
            <a:avLst/>
          </a:prstGeom>
          <a:noFill/>
        </p:spPr>
        <p:txBody>
          <a:bodyPr wrap="square" lIns="45720" rIns="45720" tIns="18288" bIns="18288" anchor="ctr">
            <a:spAutoFit/>
          </a:bodyPr>
          <a:lstStyle/>
          <a:p>
            <a:pPr algn="ctr"/>
            <a:r>
              <a:rPr sz="1000" b="0">
                <a:solidFill>
                  <a:srgbClr val="555555"/>
                </a:solidFill>
                <a:latin typeface="Yu Gothic UI"/>
              </a:rPr>
              <a:t>あきら</a:t>
            </a:r>
          </a:p>
          <a:p>
            <a:pPr algn="ctr"/>
            <a:r>
              <a:rPr sz="1000" b="0">
                <a:solidFill>
                  <a:srgbClr val="555555"/>
                </a:solidFill>
                <a:latin typeface="Yu Gothic UI"/>
              </a:rPr>
              <a:t>提案当日</a:t>
            </a:r>
          </a:p>
        </p:txBody>
      </p:sp>
      <p:sp>
        <p:nvSpPr>
          <p:cNvPr id="18" name="Rectangle 17"/>
          <p:cNvSpPr/>
          <p:nvPr/>
        </p:nvSpPr>
        <p:spPr>
          <a:xfrm>
            <a:off x="731520" y="4937760"/>
            <a:ext cx="1097280" cy="1280160"/>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937760"/>
            <a:ext cx="1097280" cy="1280160"/>
          </a:xfrm>
          <a:prstGeom prst="rect">
            <a:avLst/>
          </a:prstGeom>
          <a:noFill/>
        </p:spPr>
        <p:txBody>
          <a:bodyPr wrap="square" lIns="45720" rIns="45720" tIns="18288" bIns="18288" anchor="ctr">
            <a:spAutoFit/>
          </a:bodyPr>
          <a:lstStyle/>
          <a:p>
            <a:pPr algn="ctr"/>
            <a:r>
              <a:rPr sz="2000" b="1">
                <a:solidFill>
                  <a:srgbClr val="FFFFFF"/>
                </a:solidFill>
                <a:latin typeface="Yu Gothic UI"/>
              </a:rPr>
              <a:t>03</a:t>
            </a:r>
          </a:p>
        </p:txBody>
      </p:sp>
      <p:sp>
        <p:nvSpPr>
          <p:cNvPr id="20" name="Rectangle 19"/>
          <p:cNvSpPr/>
          <p:nvPr/>
        </p:nvSpPr>
        <p:spPr>
          <a:xfrm>
            <a:off x="1828800" y="4937760"/>
            <a:ext cx="7772400" cy="1280160"/>
          </a:xfrm>
          <a:prstGeom prst="rect">
            <a:avLst/>
          </a:prstGeom>
          <a:solidFill>
            <a:srgbClr val="E6F8F7"/>
          </a:solidFill>
          <a:ln w="19050">
            <a:solidFill>
              <a:srgbClr val="0E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03120" y="5074920"/>
            <a:ext cx="7223760" cy="365760"/>
          </a:xfrm>
          <a:prstGeom prst="rect">
            <a:avLst/>
          </a:prstGeom>
          <a:noFill/>
        </p:spPr>
        <p:txBody>
          <a:bodyPr wrap="square" lIns="45720" rIns="45720" tIns="18288" bIns="18288" anchor="t">
            <a:spAutoFit/>
          </a:bodyPr>
          <a:lstStyle/>
          <a:p>
            <a:pPr algn="l"/>
            <a:r>
              <a:rPr sz="1300" b="1">
                <a:solidFill>
                  <a:srgbClr val="0EBAB5"/>
                </a:solidFill>
                <a:latin typeface="Yu Gothic UI"/>
              </a:rPr>
              <a:t>提案書を deck/ に格納し commit &amp; push</a:t>
            </a:r>
          </a:p>
        </p:txBody>
      </p:sp>
      <p:sp>
        <p:nvSpPr>
          <p:cNvPr id="22" name="TextBox 21"/>
          <p:cNvSpPr txBox="1"/>
          <p:nvPr/>
        </p:nvSpPr>
        <p:spPr>
          <a:xfrm>
            <a:off x="2103120" y="5486400"/>
            <a:ext cx="7223760" cy="640080"/>
          </a:xfrm>
          <a:prstGeom prst="rect">
            <a:avLst/>
          </a:prstGeom>
          <a:noFill/>
        </p:spPr>
        <p:txBody>
          <a:bodyPr wrap="square" lIns="45720" rIns="45720" tIns="18288" bIns="18288" anchor="t">
            <a:spAutoFit/>
          </a:bodyPr>
          <a:lstStyle/>
          <a:p>
            <a:pPr algn="l"/>
            <a:r>
              <a:rPr sz="1000" b="0">
                <a:solidFill>
                  <a:srgbClr val="1A1A1A"/>
                </a:solidFill>
                <a:latin typeface="Yu Gothic UI"/>
              </a:rPr>
              <a:t>最終版PPTX/PDFを deck/ にアップロード。Git版はpush、Drive版はフォルダ移動のみで完了する</a:t>
            </a:r>
          </a:p>
        </p:txBody>
      </p:sp>
      <p:sp>
        <p:nvSpPr>
          <p:cNvPr id="23" name="Rectangle 22"/>
          <p:cNvSpPr/>
          <p:nvPr/>
        </p:nvSpPr>
        <p:spPr>
          <a:xfrm>
            <a:off x="9601200" y="4937760"/>
            <a:ext cx="1828800" cy="1280160"/>
          </a:xfrm>
          <a:prstGeom prst="rect">
            <a:avLst/>
          </a:prstGeom>
          <a:solidFill>
            <a:srgbClr val="E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0" y="4937760"/>
            <a:ext cx="1828800" cy="1280160"/>
          </a:xfrm>
          <a:prstGeom prst="rect">
            <a:avLst/>
          </a:prstGeom>
          <a:noFill/>
        </p:spPr>
        <p:txBody>
          <a:bodyPr wrap="square" lIns="45720" rIns="45720" tIns="18288" bIns="18288" anchor="ctr">
            <a:spAutoFit/>
          </a:bodyPr>
          <a:lstStyle/>
          <a:p>
            <a:pPr algn="ctr"/>
            <a:r>
              <a:rPr sz="1000" b="0">
                <a:solidFill>
                  <a:srgbClr val="0EBAB5"/>
                </a:solidFill>
                <a:latin typeface="Yu Gothic UI"/>
              </a:rPr>
              <a:t>あきら</a:t>
            </a:r>
          </a:p>
          <a:p>
            <a:pPr algn="ctr"/>
            <a:r>
              <a:rPr sz="1000" b="0">
                <a:solidFill>
                  <a:srgbClr val="0EBAB5"/>
                </a:solidFill>
                <a:latin typeface="Yu Gothic UI"/>
              </a:rPr>
              <a:t>提案当日</a:t>
            </a:r>
          </a:p>
        </p:txBody>
      </p:sp>
      <p:sp>
        <p:nvSpPr>
          <p:cNvPr id="25" name="Rectangle 24"/>
          <p:cNvSpPr/>
          <p:nvPr/>
        </p:nvSpPr>
        <p:spPr>
          <a:xfrm>
            <a:off x="0" y="6473952"/>
            <a:ext cx="12191695" cy="384048"/>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73952"/>
            <a:ext cx="7315200" cy="384048"/>
          </a:xfrm>
          <a:prstGeom prst="rect">
            <a:avLst/>
          </a:prstGeom>
          <a:noFill/>
        </p:spPr>
        <p:txBody>
          <a:bodyPr wrap="square" lIns="45720" rIns="45720" tIns="18288" bIns="18288" anchor="ctr">
            <a:spAutoFit/>
          </a:bodyPr>
          <a:lstStyle/>
          <a:p>
            <a:pPr algn="l"/>
            <a:r>
              <a:rPr sz="900" b="0">
                <a:solidFill>
                  <a:srgbClr val="FFFFFF"/>
                </a:solidFill>
                <a:latin typeface="Yu Gothic UI"/>
              </a:rPr>
              <a:t>2026. KANDO Marketing. Professional Consulting Service</a:t>
            </a:r>
          </a:p>
        </p:txBody>
      </p:sp>
      <p:sp>
        <p:nvSpPr>
          <p:cNvPr id="27" name="TextBox 26"/>
          <p:cNvSpPr txBox="1"/>
          <p:nvPr/>
        </p:nvSpPr>
        <p:spPr>
          <a:xfrm>
            <a:off x="10362895" y="6473952"/>
            <a:ext cx="1371600" cy="384048"/>
          </a:xfrm>
          <a:prstGeom prst="rect">
            <a:avLst/>
          </a:prstGeom>
          <a:noFill/>
        </p:spPr>
        <p:txBody>
          <a:bodyPr wrap="square" lIns="45720" rIns="45720" tIns="18288" bIns="18288" anchor="ctr">
            <a:spAutoFit/>
          </a:bodyPr>
          <a:lstStyle/>
          <a:p>
            <a:pPr algn="r"/>
            <a:r>
              <a:rPr sz="900" b="0">
                <a:solidFill>
                  <a:srgbClr val="FFFFFF"/>
                </a:solidFill>
                <a:latin typeface="Yu Gothic UI"/>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972800" cy="548640"/>
          </a:xfrm>
          <a:prstGeom prst="rect">
            <a:avLst/>
          </a:prstGeom>
          <a:noFill/>
        </p:spPr>
        <p:txBody>
          <a:bodyPr wrap="square" lIns="45720" rIns="45720" tIns="18288" bIns="18288" anchor="t">
            <a:spAutoFit/>
          </a:bodyPr>
          <a:lstStyle/>
          <a:p>
            <a:pPr algn="l"/>
            <a:r>
              <a:rPr sz="2400" b="1">
                <a:solidFill>
                  <a:srgbClr val="0EBAB5"/>
                </a:solidFill>
                <a:latin typeface="Yu Gothic UI"/>
              </a:rPr>
              <a:t>結果確定時の運用(10分)</a:t>
            </a:r>
          </a:p>
        </p:txBody>
      </p:sp>
      <p:sp>
        <p:nvSpPr>
          <p:cNvPr id="3" name="TextBox 2"/>
          <p:cNvSpPr txBox="1"/>
          <p:nvPr/>
        </p:nvSpPr>
        <p:spPr>
          <a:xfrm>
            <a:off x="731520" y="914400"/>
            <a:ext cx="10698480" cy="868680"/>
          </a:xfrm>
          <a:prstGeom prst="rect">
            <a:avLst/>
          </a:prstGeom>
          <a:noFill/>
        </p:spPr>
        <p:txBody>
          <a:bodyPr wrap="square" lIns="45720" rIns="45720" tIns="18288" bIns="18288" anchor="t">
            <a:spAutoFit/>
          </a:bodyPr>
          <a:lstStyle/>
          <a:p>
            <a:pPr algn="l"/>
            <a:r>
              <a:rPr sz="1100" b="0">
                <a:solidFill>
                  <a:srgbClr val="555555"/>
                </a:solidFill>
                <a:latin typeface="Yu Gothic UI"/>
              </a:rPr>
              <a:t>受注または失注が決まった瞬間が、提案を資産に変える唯一のチャンスである。記憶が新しいうちに3行でも結果と決定要因を残すこと。result.mdへの記入とmeta.ymlのステータス更新、たった2ステップで足りる。失注案件こそ価値が高く、相手の意思決定基準を冷静に言語化することで次回提案の必須要素が見えてくる。</a:t>
            </a:r>
          </a:p>
        </p:txBody>
      </p:sp>
      <p:sp>
        <p:nvSpPr>
          <p:cNvPr id="4" name="Rectangle 3"/>
          <p:cNvSpPr/>
          <p:nvPr/>
        </p:nvSpPr>
        <p:spPr>
          <a:xfrm>
            <a:off x="731520" y="2103120"/>
            <a:ext cx="1097280" cy="1988820"/>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03120"/>
            <a:ext cx="1097280" cy="1988820"/>
          </a:xfrm>
          <a:prstGeom prst="rect">
            <a:avLst/>
          </a:prstGeom>
          <a:noFill/>
        </p:spPr>
        <p:txBody>
          <a:bodyPr wrap="square" lIns="45720" rIns="45720" tIns="18288" bIns="18288" anchor="ctr">
            <a:spAutoFit/>
          </a:bodyPr>
          <a:lstStyle/>
          <a:p>
            <a:pPr algn="ctr"/>
            <a:r>
              <a:rPr sz="2000" b="1">
                <a:solidFill>
                  <a:srgbClr val="FFFFFF"/>
                </a:solidFill>
                <a:latin typeface="Yu Gothic UI"/>
              </a:rPr>
              <a:t>01</a:t>
            </a:r>
          </a:p>
        </p:txBody>
      </p:sp>
      <p:sp>
        <p:nvSpPr>
          <p:cNvPr id="6" name="Rectangle 5"/>
          <p:cNvSpPr/>
          <p:nvPr/>
        </p:nvSpPr>
        <p:spPr>
          <a:xfrm>
            <a:off x="1828800" y="2103120"/>
            <a:ext cx="7772400" cy="1988820"/>
          </a:xfrm>
          <a:prstGeom prst="rect">
            <a:avLst/>
          </a:prstGeom>
          <a:solidFill>
            <a:srgbClr val="E6F8F7"/>
          </a:solidFill>
          <a:ln w="19050">
            <a:solidFill>
              <a:srgbClr val="0E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03120" y="2240280"/>
            <a:ext cx="7223760" cy="365760"/>
          </a:xfrm>
          <a:prstGeom prst="rect">
            <a:avLst/>
          </a:prstGeom>
          <a:noFill/>
        </p:spPr>
        <p:txBody>
          <a:bodyPr wrap="square" lIns="45720" rIns="45720" tIns="18288" bIns="18288" anchor="t">
            <a:spAutoFit/>
          </a:bodyPr>
          <a:lstStyle/>
          <a:p>
            <a:pPr algn="l"/>
            <a:r>
              <a:rPr sz="1300" b="1">
                <a:solidFill>
                  <a:srgbClr val="0EBAB5"/>
                </a:solidFill>
                <a:latin typeface="Yu Gothic UI"/>
              </a:rPr>
              <a:t>result.md を3行で記入する</a:t>
            </a:r>
          </a:p>
        </p:txBody>
      </p:sp>
      <p:sp>
        <p:nvSpPr>
          <p:cNvPr id="8" name="TextBox 7"/>
          <p:cNvSpPr txBox="1"/>
          <p:nvPr/>
        </p:nvSpPr>
        <p:spPr>
          <a:xfrm>
            <a:off x="2103120" y="2651760"/>
            <a:ext cx="7223760" cy="1348740"/>
          </a:xfrm>
          <a:prstGeom prst="rect">
            <a:avLst/>
          </a:prstGeom>
          <a:noFill/>
        </p:spPr>
        <p:txBody>
          <a:bodyPr wrap="square" lIns="45720" rIns="45720" tIns="18288" bIns="18288" anchor="t">
            <a:spAutoFit/>
          </a:bodyPr>
          <a:lstStyle/>
          <a:p>
            <a:pPr algn="l"/>
            <a:r>
              <a:rPr sz="1000" b="0">
                <a:solidFill>
                  <a:srgbClr val="1A1A1A"/>
                </a:solidFill>
                <a:latin typeface="Yu Gothic UI"/>
              </a:rPr>
              <a:t>①結果(受注/失注/保留)／②決定要因(相手が何で決めたか)／③次回への申し送り(流用可能パーツ・追加すべき要素)。失注こそ詳しく</a:t>
            </a:r>
          </a:p>
        </p:txBody>
      </p:sp>
      <p:sp>
        <p:nvSpPr>
          <p:cNvPr id="9" name="Rectangle 8"/>
          <p:cNvSpPr/>
          <p:nvPr/>
        </p:nvSpPr>
        <p:spPr>
          <a:xfrm>
            <a:off x="9601200" y="2103120"/>
            <a:ext cx="1828800" cy="1988820"/>
          </a:xfrm>
          <a:prstGeom prst="rect">
            <a:avLst/>
          </a:prstGeom>
          <a:solidFill>
            <a:srgbClr val="E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2103120"/>
            <a:ext cx="1828800" cy="1988820"/>
          </a:xfrm>
          <a:prstGeom prst="rect">
            <a:avLst/>
          </a:prstGeom>
          <a:noFill/>
        </p:spPr>
        <p:txBody>
          <a:bodyPr wrap="square" lIns="45720" rIns="45720" tIns="18288" bIns="18288" anchor="ctr">
            <a:spAutoFit/>
          </a:bodyPr>
          <a:lstStyle/>
          <a:p>
            <a:pPr algn="ctr"/>
            <a:r>
              <a:rPr sz="1000" b="0">
                <a:solidFill>
                  <a:srgbClr val="0EBAB5"/>
                </a:solidFill>
                <a:latin typeface="Yu Gothic UI"/>
              </a:rPr>
              <a:t>あきら</a:t>
            </a:r>
          </a:p>
          <a:p>
            <a:pPr algn="ctr"/>
            <a:r>
              <a:rPr sz="1000" b="0">
                <a:solidFill>
                  <a:srgbClr val="0EBAB5"/>
                </a:solidFill>
                <a:latin typeface="Yu Gothic UI"/>
              </a:rPr>
              <a:t>結果確定日</a:t>
            </a:r>
          </a:p>
        </p:txBody>
      </p:sp>
      <p:sp>
        <p:nvSpPr>
          <p:cNvPr id="11" name="Rectangle 10"/>
          <p:cNvSpPr/>
          <p:nvPr/>
        </p:nvSpPr>
        <p:spPr>
          <a:xfrm>
            <a:off x="731520" y="4229100"/>
            <a:ext cx="1097280" cy="198882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29100"/>
            <a:ext cx="1097280" cy="1988820"/>
          </a:xfrm>
          <a:prstGeom prst="rect">
            <a:avLst/>
          </a:prstGeom>
          <a:noFill/>
        </p:spPr>
        <p:txBody>
          <a:bodyPr wrap="square" lIns="45720" rIns="45720" tIns="18288" bIns="18288" anchor="ctr">
            <a:spAutoFit/>
          </a:bodyPr>
          <a:lstStyle/>
          <a:p>
            <a:pPr algn="ctr"/>
            <a:r>
              <a:rPr sz="2000" b="1">
                <a:solidFill>
                  <a:srgbClr val="FFFFFF"/>
                </a:solidFill>
                <a:latin typeface="Yu Gothic UI"/>
              </a:rPr>
              <a:t>02</a:t>
            </a:r>
          </a:p>
        </p:txBody>
      </p:sp>
      <p:sp>
        <p:nvSpPr>
          <p:cNvPr id="13" name="Rectangle 12"/>
          <p:cNvSpPr/>
          <p:nvPr/>
        </p:nvSpPr>
        <p:spPr>
          <a:xfrm>
            <a:off x="1828800" y="4229100"/>
            <a:ext cx="7772400" cy="1988820"/>
          </a:xfrm>
          <a:prstGeom prst="rect">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4366260"/>
            <a:ext cx="7223760" cy="365760"/>
          </a:xfrm>
          <a:prstGeom prst="rect">
            <a:avLst/>
          </a:prstGeom>
          <a:noFill/>
        </p:spPr>
        <p:txBody>
          <a:bodyPr wrap="square" lIns="45720" rIns="45720" tIns="18288" bIns="18288" anchor="t">
            <a:spAutoFit/>
          </a:bodyPr>
          <a:lstStyle/>
          <a:p>
            <a:pPr algn="l"/>
            <a:r>
              <a:rPr sz="1300" b="1">
                <a:solidFill>
                  <a:srgbClr val="1A1A1A"/>
                </a:solidFill>
                <a:latin typeface="Yu Gothic UI"/>
              </a:rPr>
              <a:t>meta.yml のステータスを更新する</a:t>
            </a:r>
          </a:p>
        </p:txBody>
      </p:sp>
      <p:sp>
        <p:nvSpPr>
          <p:cNvPr id="15" name="TextBox 14"/>
          <p:cNvSpPr txBox="1"/>
          <p:nvPr/>
        </p:nvSpPr>
        <p:spPr>
          <a:xfrm>
            <a:off x="2103120" y="4777740"/>
            <a:ext cx="7223760" cy="1348740"/>
          </a:xfrm>
          <a:prstGeom prst="rect">
            <a:avLst/>
          </a:prstGeom>
          <a:noFill/>
        </p:spPr>
        <p:txBody>
          <a:bodyPr wrap="square" lIns="45720" rIns="45720" tIns="18288" bIns="18288" anchor="t">
            <a:spAutoFit/>
          </a:bodyPr>
          <a:lstStyle/>
          <a:p>
            <a:pPr algn="l"/>
            <a:r>
              <a:rPr sz="1000" b="0">
                <a:solidFill>
                  <a:srgbClr val="1A1A1A"/>
                </a:solidFill>
                <a:latin typeface="Yu Gothic UI"/>
              </a:rPr>
              <a:t>phase を「提案中→受注/失注/保留」に変更／decision_date を記入／score(1〜5点)で重要度を定量化</a:t>
            </a:r>
          </a:p>
        </p:txBody>
      </p:sp>
      <p:sp>
        <p:nvSpPr>
          <p:cNvPr id="16" name="Rectangle 15"/>
          <p:cNvSpPr/>
          <p:nvPr/>
        </p:nvSpPr>
        <p:spPr>
          <a:xfrm>
            <a:off x="9601200" y="4229100"/>
            <a:ext cx="1828800" cy="198882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4229100"/>
            <a:ext cx="1828800" cy="1988820"/>
          </a:xfrm>
          <a:prstGeom prst="rect">
            <a:avLst/>
          </a:prstGeom>
          <a:noFill/>
        </p:spPr>
        <p:txBody>
          <a:bodyPr wrap="square" lIns="45720" rIns="45720" tIns="18288" bIns="18288" anchor="ctr">
            <a:spAutoFit/>
          </a:bodyPr>
          <a:lstStyle/>
          <a:p>
            <a:pPr algn="ctr"/>
            <a:r>
              <a:rPr sz="1000" b="0">
                <a:solidFill>
                  <a:srgbClr val="555555"/>
                </a:solidFill>
                <a:latin typeface="Yu Gothic UI"/>
              </a:rPr>
              <a:t>あきら</a:t>
            </a:r>
          </a:p>
          <a:p>
            <a:pPr algn="ctr"/>
            <a:r>
              <a:rPr sz="1000" b="0">
                <a:solidFill>
                  <a:srgbClr val="555555"/>
                </a:solidFill>
                <a:latin typeface="Yu Gothic UI"/>
              </a:rPr>
              <a:t>結果確定日</a:t>
            </a:r>
          </a:p>
        </p:txBody>
      </p:sp>
      <p:sp>
        <p:nvSpPr>
          <p:cNvPr id="18" name="Rectangle 17"/>
          <p:cNvSpPr/>
          <p:nvPr/>
        </p:nvSpPr>
        <p:spPr>
          <a:xfrm>
            <a:off x="0" y="6473952"/>
            <a:ext cx="12191695" cy="384048"/>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473952"/>
            <a:ext cx="7315200" cy="384048"/>
          </a:xfrm>
          <a:prstGeom prst="rect">
            <a:avLst/>
          </a:prstGeom>
          <a:noFill/>
        </p:spPr>
        <p:txBody>
          <a:bodyPr wrap="square" lIns="45720" rIns="45720" tIns="18288" bIns="18288" anchor="ctr">
            <a:spAutoFit/>
          </a:bodyPr>
          <a:lstStyle/>
          <a:p>
            <a:pPr algn="l"/>
            <a:r>
              <a:rPr sz="900" b="0">
                <a:solidFill>
                  <a:srgbClr val="FFFFFF"/>
                </a:solidFill>
                <a:latin typeface="Yu Gothic UI"/>
              </a:rPr>
              <a:t>2026. KANDO Marketing. Professional Consulting Service</a:t>
            </a:r>
          </a:p>
        </p:txBody>
      </p:sp>
      <p:sp>
        <p:nvSpPr>
          <p:cNvPr id="20" name="TextBox 19"/>
          <p:cNvSpPr txBox="1"/>
          <p:nvPr/>
        </p:nvSpPr>
        <p:spPr>
          <a:xfrm>
            <a:off x="10362895" y="6473952"/>
            <a:ext cx="1371600" cy="384048"/>
          </a:xfrm>
          <a:prstGeom prst="rect">
            <a:avLst/>
          </a:prstGeom>
          <a:noFill/>
        </p:spPr>
        <p:txBody>
          <a:bodyPr wrap="square" lIns="45720" rIns="45720" tIns="18288" bIns="18288" anchor="ctr">
            <a:spAutoFit/>
          </a:bodyPr>
          <a:lstStyle/>
          <a:p>
            <a:pPr algn="r"/>
            <a:r>
              <a:rPr sz="900" b="0">
                <a:solidFill>
                  <a:srgbClr val="FFFFFF"/>
                </a:solidFill>
                <a:latin typeface="Yu Gothic UI"/>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972800" cy="548640"/>
          </a:xfrm>
          <a:prstGeom prst="rect">
            <a:avLst/>
          </a:prstGeom>
          <a:noFill/>
        </p:spPr>
        <p:txBody>
          <a:bodyPr wrap="square" lIns="45720" rIns="45720" tIns="18288" bIns="18288" anchor="t">
            <a:spAutoFit/>
          </a:bodyPr>
          <a:lstStyle/>
          <a:p>
            <a:pPr algn="l"/>
            <a:r>
              <a:rPr sz="2400" b="1">
                <a:solidFill>
                  <a:srgbClr val="0EBAB5"/>
                </a:solidFill>
                <a:latin typeface="Yu Gothic UI"/>
              </a:rPr>
              <a:t>月次レビュー(30分)</a:t>
            </a:r>
          </a:p>
        </p:txBody>
      </p:sp>
      <p:sp>
        <p:nvSpPr>
          <p:cNvPr id="3" name="TextBox 2"/>
          <p:cNvSpPr txBox="1"/>
          <p:nvPr/>
        </p:nvSpPr>
        <p:spPr>
          <a:xfrm>
            <a:off x="731520" y="914400"/>
            <a:ext cx="10698480" cy="868680"/>
          </a:xfrm>
          <a:prstGeom prst="rect">
            <a:avLst/>
          </a:prstGeom>
          <a:noFill/>
        </p:spPr>
        <p:txBody>
          <a:bodyPr wrap="square" lIns="45720" rIns="45720" tIns="18288" bIns="18288" anchor="t">
            <a:spAutoFit/>
          </a:bodyPr>
          <a:lstStyle/>
          <a:p>
            <a:pPr algn="l"/>
            <a:r>
              <a:rPr sz="1100" b="0">
                <a:solidFill>
                  <a:srgbClr val="555555"/>
                </a:solidFill>
                <a:latin typeface="Yu Gothic UI"/>
              </a:rPr>
              <a:t>月1回の30分レビューが、ループを学習ループに進化させる最終ピースとなる。過去30日のmeta.yml群をClaudeに投入し、BM型・業界別の勝率を集計、受注3件以上の型をpatterns配下に昇格させ、次月の提案テンプレに反映する。手動更新は不要で、Claudeへの依頼1本で完結する。これだけで提案資産が指数関数的に育つ。</a:t>
            </a:r>
          </a:p>
        </p:txBody>
      </p:sp>
      <p:sp>
        <p:nvSpPr>
          <p:cNvPr id="4" name="Rectangle 3"/>
          <p:cNvSpPr/>
          <p:nvPr/>
        </p:nvSpPr>
        <p:spPr>
          <a:xfrm>
            <a:off x="731520" y="2103120"/>
            <a:ext cx="1097280" cy="128016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03120"/>
            <a:ext cx="1097280" cy="1280160"/>
          </a:xfrm>
          <a:prstGeom prst="rect">
            <a:avLst/>
          </a:prstGeom>
          <a:noFill/>
        </p:spPr>
        <p:txBody>
          <a:bodyPr wrap="square" lIns="45720" rIns="45720" tIns="18288" bIns="18288" anchor="ctr">
            <a:spAutoFit/>
          </a:bodyPr>
          <a:lstStyle/>
          <a:p>
            <a:pPr algn="ctr"/>
            <a:r>
              <a:rPr sz="2000" b="1">
                <a:solidFill>
                  <a:srgbClr val="FFFFFF"/>
                </a:solidFill>
                <a:latin typeface="Yu Gothic UI"/>
              </a:rPr>
              <a:t>01</a:t>
            </a:r>
          </a:p>
        </p:txBody>
      </p:sp>
      <p:sp>
        <p:nvSpPr>
          <p:cNvPr id="6" name="Rectangle 5"/>
          <p:cNvSpPr/>
          <p:nvPr/>
        </p:nvSpPr>
        <p:spPr>
          <a:xfrm>
            <a:off x="1828800" y="2103120"/>
            <a:ext cx="7772400" cy="1280160"/>
          </a:xfrm>
          <a:prstGeom prst="rect">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03120" y="2240280"/>
            <a:ext cx="7223760" cy="365760"/>
          </a:xfrm>
          <a:prstGeom prst="rect">
            <a:avLst/>
          </a:prstGeom>
          <a:noFill/>
        </p:spPr>
        <p:txBody>
          <a:bodyPr wrap="square" lIns="45720" rIns="45720" tIns="18288" bIns="18288" anchor="t">
            <a:spAutoFit/>
          </a:bodyPr>
          <a:lstStyle/>
          <a:p>
            <a:pPr algn="l"/>
            <a:r>
              <a:rPr sz="1300" b="1">
                <a:solidFill>
                  <a:srgbClr val="1A1A1A"/>
                </a:solidFill>
                <a:latin typeface="Yu Gothic UI"/>
              </a:rPr>
              <a:t>過去30日の meta 集計をClaudeに依頼</a:t>
            </a:r>
          </a:p>
        </p:txBody>
      </p:sp>
      <p:sp>
        <p:nvSpPr>
          <p:cNvPr id="8" name="TextBox 7"/>
          <p:cNvSpPr txBox="1"/>
          <p:nvPr/>
        </p:nvSpPr>
        <p:spPr>
          <a:xfrm>
            <a:off x="2103120" y="2651760"/>
            <a:ext cx="7223760" cy="640080"/>
          </a:xfrm>
          <a:prstGeom prst="rect">
            <a:avLst/>
          </a:prstGeom>
          <a:noFill/>
        </p:spPr>
        <p:txBody>
          <a:bodyPr wrap="square" lIns="45720" rIns="45720" tIns="18288" bIns="18288" anchor="t">
            <a:spAutoFit/>
          </a:bodyPr>
          <a:lstStyle/>
          <a:p>
            <a:pPr algn="l"/>
            <a:r>
              <a:rPr sz="1000" b="0">
                <a:solidFill>
                  <a:srgbClr val="1A1A1A"/>
                </a:solidFill>
                <a:latin typeface="Yu Gothic UI"/>
              </a:rPr>
              <a:t>BM型別・業界別・予算帯別の勝率を集計／受注/失注のwin_factors・lose_factorsの頻出ワード抽出</a:t>
            </a:r>
          </a:p>
        </p:txBody>
      </p:sp>
      <p:sp>
        <p:nvSpPr>
          <p:cNvPr id="9" name="Rectangle 8"/>
          <p:cNvSpPr/>
          <p:nvPr/>
        </p:nvSpPr>
        <p:spPr>
          <a:xfrm>
            <a:off x="9601200" y="2103120"/>
            <a:ext cx="1828800" cy="12801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2103120"/>
            <a:ext cx="1828800" cy="1280160"/>
          </a:xfrm>
          <a:prstGeom prst="rect">
            <a:avLst/>
          </a:prstGeom>
          <a:noFill/>
        </p:spPr>
        <p:txBody>
          <a:bodyPr wrap="square" lIns="45720" rIns="45720" tIns="18288" bIns="18288" anchor="ctr">
            <a:spAutoFit/>
          </a:bodyPr>
          <a:lstStyle/>
          <a:p>
            <a:pPr algn="ctr"/>
            <a:r>
              <a:rPr sz="1000" b="0">
                <a:solidFill>
                  <a:srgbClr val="555555"/>
                </a:solidFill>
                <a:latin typeface="Yu Gothic UI"/>
              </a:rPr>
              <a:t>あきら</a:t>
            </a:r>
          </a:p>
          <a:p>
            <a:pPr algn="ctr"/>
            <a:r>
              <a:rPr sz="1000" b="0">
                <a:solidFill>
                  <a:srgbClr val="555555"/>
                </a:solidFill>
                <a:latin typeface="Yu Gothic UI"/>
              </a:rPr>
              <a:t>毎月1日</a:t>
            </a:r>
          </a:p>
        </p:txBody>
      </p:sp>
      <p:sp>
        <p:nvSpPr>
          <p:cNvPr id="11" name="Rectangle 10"/>
          <p:cNvSpPr/>
          <p:nvPr/>
        </p:nvSpPr>
        <p:spPr>
          <a:xfrm>
            <a:off x="731520" y="3520440"/>
            <a:ext cx="1097280" cy="128016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20440"/>
            <a:ext cx="1097280" cy="1280160"/>
          </a:xfrm>
          <a:prstGeom prst="rect">
            <a:avLst/>
          </a:prstGeom>
          <a:noFill/>
        </p:spPr>
        <p:txBody>
          <a:bodyPr wrap="square" lIns="45720" rIns="45720" tIns="18288" bIns="18288" anchor="ctr">
            <a:spAutoFit/>
          </a:bodyPr>
          <a:lstStyle/>
          <a:p>
            <a:pPr algn="ctr"/>
            <a:r>
              <a:rPr sz="2000" b="1">
                <a:solidFill>
                  <a:srgbClr val="FFFFFF"/>
                </a:solidFill>
                <a:latin typeface="Yu Gothic UI"/>
              </a:rPr>
              <a:t>02</a:t>
            </a:r>
          </a:p>
        </p:txBody>
      </p:sp>
      <p:sp>
        <p:nvSpPr>
          <p:cNvPr id="13" name="Rectangle 12"/>
          <p:cNvSpPr/>
          <p:nvPr/>
        </p:nvSpPr>
        <p:spPr>
          <a:xfrm>
            <a:off x="1828800" y="3520440"/>
            <a:ext cx="7772400" cy="1280160"/>
          </a:xfrm>
          <a:prstGeom prst="rect">
            <a:avLst/>
          </a:prstGeom>
          <a:solidFill>
            <a:srgbClr val="FFFFFF"/>
          </a:solidFill>
          <a:ln w="9525">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3657600"/>
            <a:ext cx="7223760" cy="365760"/>
          </a:xfrm>
          <a:prstGeom prst="rect">
            <a:avLst/>
          </a:prstGeom>
          <a:noFill/>
        </p:spPr>
        <p:txBody>
          <a:bodyPr wrap="square" lIns="45720" rIns="45720" tIns="18288" bIns="18288" anchor="t">
            <a:spAutoFit/>
          </a:bodyPr>
          <a:lstStyle/>
          <a:p>
            <a:pPr algn="l"/>
            <a:r>
              <a:rPr sz="1300" b="1">
                <a:solidFill>
                  <a:srgbClr val="1A1A1A"/>
                </a:solidFill>
                <a:latin typeface="Yu Gothic UI"/>
              </a:rPr>
              <a:t>受注3件以上の型を patterns/ に昇格</a:t>
            </a:r>
          </a:p>
        </p:txBody>
      </p:sp>
      <p:sp>
        <p:nvSpPr>
          <p:cNvPr id="15" name="TextBox 14"/>
          <p:cNvSpPr txBox="1"/>
          <p:nvPr/>
        </p:nvSpPr>
        <p:spPr>
          <a:xfrm>
            <a:off x="2103120" y="4069080"/>
            <a:ext cx="7223760" cy="640080"/>
          </a:xfrm>
          <a:prstGeom prst="rect">
            <a:avLst/>
          </a:prstGeom>
          <a:noFill/>
        </p:spPr>
        <p:txBody>
          <a:bodyPr wrap="square" lIns="45720" rIns="45720" tIns="18288" bIns="18288" anchor="t">
            <a:spAutoFit/>
          </a:bodyPr>
          <a:lstStyle/>
          <a:p>
            <a:pPr algn="l"/>
            <a:r>
              <a:rPr sz="1000" b="0">
                <a:solidFill>
                  <a:srgbClr val="1A1A1A"/>
                </a:solidFill>
                <a:latin typeface="Yu Gothic UI"/>
              </a:rPr>
              <a:t>同BM型で2回以上受注 or 同パターンで3回以上提案を満たすものを patterns/by-bm-type/ 配下に新規/更新</a:t>
            </a:r>
          </a:p>
        </p:txBody>
      </p:sp>
      <p:sp>
        <p:nvSpPr>
          <p:cNvPr id="16" name="Rectangle 15"/>
          <p:cNvSpPr/>
          <p:nvPr/>
        </p:nvSpPr>
        <p:spPr>
          <a:xfrm>
            <a:off x="9601200" y="3520440"/>
            <a:ext cx="1828800" cy="12801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3520440"/>
            <a:ext cx="1828800" cy="1280160"/>
          </a:xfrm>
          <a:prstGeom prst="rect">
            <a:avLst/>
          </a:prstGeom>
          <a:noFill/>
        </p:spPr>
        <p:txBody>
          <a:bodyPr wrap="square" lIns="45720" rIns="45720" tIns="18288" bIns="18288" anchor="ctr">
            <a:spAutoFit/>
          </a:bodyPr>
          <a:lstStyle/>
          <a:p>
            <a:pPr algn="ctr"/>
            <a:r>
              <a:rPr sz="1000" b="0">
                <a:solidFill>
                  <a:srgbClr val="555555"/>
                </a:solidFill>
                <a:latin typeface="Yu Gothic UI"/>
              </a:rPr>
              <a:t>あきら</a:t>
            </a:r>
          </a:p>
          <a:p>
            <a:pPr algn="ctr"/>
            <a:r>
              <a:rPr sz="1000" b="0">
                <a:solidFill>
                  <a:srgbClr val="555555"/>
                </a:solidFill>
                <a:latin typeface="Yu Gothic UI"/>
              </a:rPr>
              <a:t>毎月1日</a:t>
            </a:r>
          </a:p>
        </p:txBody>
      </p:sp>
      <p:sp>
        <p:nvSpPr>
          <p:cNvPr id="18" name="Rectangle 17"/>
          <p:cNvSpPr/>
          <p:nvPr/>
        </p:nvSpPr>
        <p:spPr>
          <a:xfrm>
            <a:off x="731520" y="4937760"/>
            <a:ext cx="1097280" cy="1280160"/>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937760"/>
            <a:ext cx="1097280" cy="1280160"/>
          </a:xfrm>
          <a:prstGeom prst="rect">
            <a:avLst/>
          </a:prstGeom>
          <a:noFill/>
        </p:spPr>
        <p:txBody>
          <a:bodyPr wrap="square" lIns="45720" rIns="45720" tIns="18288" bIns="18288" anchor="ctr">
            <a:spAutoFit/>
          </a:bodyPr>
          <a:lstStyle/>
          <a:p>
            <a:pPr algn="ctr"/>
            <a:r>
              <a:rPr sz="2000" b="1">
                <a:solidFill>
                  <a:srgbClr val="FFFFFF"/>
                </a:solidFill>
                <a:latin typeface="Yu Gothic UI"/>
              </a:rPr>
              <a:t>03</a:t>
            </a:r>
          </a:p>
        </p:txBody>
      </p:sp>
      <p:sp>
        <p:nvSpPr>
          <p:cNvPr id="20" name="Rectangle 19"/>
          <p:cNvSpPr/>
          <p:nvPr/>
        </p:nvSpPr>
        <p:spPr>
          <a:xfrm>
            <a:off x="1828800" y="4937760"/>
            <a:ext cx="7772400" cy="1280160"/>
          </a:xfrm>
          <a:prstGeom prst="rect">
            <a:avLst/>
          </a:prstGeom>
          <a:solidFill>
            <a:srgbClr val="E6F8F7"/>
          </a:solidFill>
          <a:ln w="19050">
            <a:solidFill>
              <a:srgbClr val="0E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03120" y="5074920"/>
            <a:ext cx="7223760" cy="365760"/>
          </a:xfrm>
          <a:prstGeom prst="rect">
            <a:avLst/>
          </a:prstGeom>
          <a:noFill/>
        </p:spPr>
        <p:txBody>
          <a:bodyPr wrap="square" lIns="45720" rIns="45720" tIns="18288" bIns="18288" anchor="t">
            <a:spAutoFit/>
          </a:bodyPr>
          <a:lstStyle/>
          <a:p>
            <a:pPr algn="l"/>
            <a:r>
              <a:rPr sz="1300" b="1">
                <a:solidFill>
                  <a:srgbClr val="0EBAB5"/>
                </a:solidFill>
                <a:latin typeface="Yu Gothic UI"/>
              </a:rPr>
              <a:t>次月の提案テンプレに反映する</a:t>
            </a:r>
          </a:p>
        </p:txBody>
      </p:sp>
      <p:sp>
        <p:nvSpPr>
          <p:cNvPr id="22" name="TextBox 21"/>
          <p:cNvSpPr txBox="1"/>
          <p:nvPr/>
        </p:nvSpPr>
        <p:spPr>
          <a:xfrm>
            <a:off x="2103120" y="5486400"/>
            <a:ext cx="7223760" cy="640080"/>
          </a:xfrm>
          <a:prstGeom prst="rect">
            <a:avLst/>
          </a:prstGeom>
          <a:noFill/>
        </p:spPr>
        <p:txBody>
          <a:bodyPr wrap="square" lIns="45720" rIns="45720" tIns="18288" bIns="18288" anchor="t">
            <a:spAutoFit/>
          </a:bodyPr>
          <a:lstStyle/>
          <a:p>
            <a:pPr algn="l"/>
            <a:r>
              <a:rPr sz="1000" b="0">
                <a:solidFill>
                  <a:srgbClr val="1A1A1A"/>
                </a:solidFill>
                <a:latin typeface="Yu Gothic UI"/>
              </a:rPr>
              <a:t>templates/deck-skeletons/ を最新版にバージョンアップ／proposal-slide-architect Skill のプロンプト追記</a:t>
            </a:r>
          </a:p>
        </p:txBody>
      </p:sp>
      <p:sp>
        <p:nvSpPr>
          <p:cNvPr id="23" name="Rectangle 22"/>
          <p:cNvSpPr/>
          <p:nvPr/>
        </p:nvSpPr>
        <p:spPr>
          <a:xfrm>
            <a:off x="9601200" y="4937760"/>
            <a:ext cx="1828800" cy="1280160"/>
          </a:xfrm>
          <a:prstGeom prst="rect">
            <a:avLst/>
          </a:prstGeom>
          <a:solidFill>
            <a:srgbClr val="E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0" y="4937760"/>
            <a:ext cx="1828800" cy="1280160"/>
          </a:xfrm>
          <a:prstGeom prst="rect">
            <a:avLst/>
          </a:prstGeom>
          <a:noFill/>
        </p:spPr>
        <p:txBody>
          <a:bodyPr wrap="square" lIns="45720" rIns="45720" tIns="18288" bIns="18288" anchor="ctr">
            <a:spAutoFit/>
          </a:bodyPr>
          <a:lstStyle/>
          <a:p>
            <a:pPr algn="ctr"/>
            <a:r>
              <a:rPr sz="1000" b="0">
                <a:solidFill>
                  <a:srgbClr val="0EBAB5"/>
                </a:solidFill>
                <a:latin typeface="Yu Gothic UI"/>
              </a:rPr>
              <a:t>あきら</a:t>
            </a:r>
          </a:p>
          <a:p>
            <a:pPr algn="ctr"/>
            <a:r>
              <a:rPr sz="1000" b="0">
                <a:solidFill>
                  <a:srgbClr val="0EBAB5"/>
                </a:solidFill>
                <a:latin typeface="Yu Gothic UI"/>
              </a:rPr>
              <a:t>毎月1日</a:t>
            </a:r>
          </a:p>
        </p:txBody>
      </p:sp>
      <p:sp>
        <p:nvSpPr>
          <p:cNvPr id="25" name="Rectangle 24"/>
          <p:cNvSpPr/>
          <p:nvPr/>
        </p:nvSpPr>
        <p:spPr>
          <a:xfrm>
            <a:off x="0" y="6473952"/>
            <a:ext cx="12191695" cy="384048"/>
          </a:xfrm>
          <a:prstGeom prst="rect">
            <a:avLst/>
          </a:prstGeom>
          <a:solidFill>
            <a:srgbClr val="0E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73952"/>
            <a:ext cx="7315200" cy="384048"/>
          </a:xfrm>
          <a:prstGeom prst="rect">
            <a:avLst/>
          </a:prstGeom>
          <a:noFill/>
        </p:spPr>
        <p:txBody>
          <a:bodyPr wrap="square" lIns="45720" rIns="45720" tIns="18288" bIns="18288" anchor="ctr">
            <a:spAutoFit/>
          </a:bodyPr>
          <a:lstStyle/>
          <a:p>
            <a:pPr algn="l"/>
            <a:r>
              <a:rPr sz="900" b="0">
                <a:solidFill>
                  <a:srgbClr val="FFFFFF"/>
                </a:solidFill>
                <a:latin typeface="Yu Gothic UI"/>
              </a:rPr>
              <a:t>2026. KANDO Marketing. Professional Consulting Service</a:t>
            </a:r>
          </a:p>
        </p:txBody>
      </p:sp>
      <p:sp>
        <p:nvSpPr>
          <p:cNvPr id="27" name="TextBox 26"/>
          <p:cNvSpPr txBox="1"/>
          <p:nvPr/>
        </p:nvSpPr>
        <p:spPr>
          <a:xfrm>
            <a:off x="10362895" y="6473952"/>
            <a:ext cx="1371600" cy="384048"/>
          </a:xfrm>
          <a:prstGeom prst="rect">
            <a:avLst/>
          </a:prstGeom>
          <a:noFill/>
        </p:spPr>
        <p:txBody>
          <a:bodyPr wrap="square" lIns="45720" rIns="45720" tIns="18288" bIns="18288" anchor="ctr">
            <a:spAutoFit/>
          </a:bodyPr>
          <a:lstStyle/>
          <a:p>
            <a:pPr algn="r"/>
            <a:r>
              <a:rPr sz="900" b="0">
                <a:solidFill>
                  <a:srgbClr val="FFFFFF"/>
                </a:solidFill>
                <a:latin typeface="Yu Gothic UI"/>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